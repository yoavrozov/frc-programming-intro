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91" r:id="rId5"/>
    <p:sldId id="292" r:id="rId6"/>
    <p:sldId id="293" r:id="rId7"/>
    <p:sldId id="294" r:id="rId8"/>
    <p:sldId id="295" r:id="rId9"/>
    <p:sldId id="296" r:id="rId10"/>
    <p:sldId id="297" r:id="rId11"/>
    <p:sldId id="281" r:id="rId12"/>
    <p:sldId id="298" r:id="rId13"/>
    <p:sldId id="299" r:id="rId14"/>
    <p:sldId id="304" r:id="rId15"/>
    <p:sldId id="300" r:id="rId16"/>
    <p:sldId id="290" r:id="rId17"/>
    <p:sldId id="301" r:id="rId18"/>
    <p:sldId id="305" r:id="rId19"/>
    <p:sldId id="303" r:id="rId20"/>
  </p:sldIdLst>
  <p:sldSz cx="9144000" cy="5143500" type="screen16x9"/>
  <p:notesSz cx="6858000" cy="9144000"/>
  <p:embeddedFontLst>
    <p:embeddedFont>
      <p:font typeface="Rubik" pitchFamily="2" charset="-79"/>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hUVJU3jbxGl11X7yrLJ5REy1ms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7FA"/>
    <a:srgbClr val="FBFCFE"/>
    <a:srgbClr val="DEEB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147" autoAdjust="0"/>
  </p:normalViewPr>
  <p:slideViewPr>
    <p:cSldViewPr snapToGrid="0">
      <p:cViewPr varScale="1">
        <p:scale>
          <a:sx n="191" d="100"/>
          <a:sy n="191" d="100"/>
        </p:scale>
        <p:origin x="92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886200" y="0"/>
            <a:ext cx="2971800" cy="458788"/>
          </a:xfrm>
          <a:prstGeom prst="rect">
            <a:avLst/>
          </a:prstGeom>
          <a:noFill/>
          <a:ln>
            <a:noFill/>
          </a:ln>
        </p:spPr>
        <p:txBody>
          <a:bodyPr spcFirstLastPara="1" wrap="square" lIns="91425" tIns="45700" rIns="91425" bIns="45700" anchor="t"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1588" y="0"/>
            <a:ext cx="2971800" cy="458788"/>
          </a:xfrm>
          <a:prstGeom prst="rect">
            <a:avLst/>
          </a:prstGeom>
          <a:noFill/>
          <a:ln>
            <a:noFill/>
          </a:ln>
        </p:spPr>
        <p:txBody>
          <a:bodyPr spcFirstLastPara="1" wrap="square" lIns="91425" tIns="45700" rIns="91425" bIns="45700" anchor="t"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3886200" y="8685213"/>
            <a:ext cx="2971800" cy="458787"/>
          </a:xfrm>
          <a:prstGeom prst="rect">
            <a:avLst/>
          </a:prstGeom>
          <a:noFill/>
          <a:ln>
            <a:noFill/>
          </a:ln>
        </p:spPr>
        <p:txBody>
          <a:bodyPr spcFirstLastPara="1" wrap="square" lIns="91425" tIns="45700" rIns="91425" bIns="45700" anchor="b"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1588"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1">
              <a:lnSpc>
                <a:spcPct val="100000"/>
              </a:lnSpc>
              <a:spcBef>
                <a:spcPts val="0"/>
              </a:spcBef>
              <a:spcAft>
                <a:spcPts val="0"/>
              </a:spcAft>
              <a:buClr>
                <a:srgbClr val="000000"/>
              </a:buClr>
              <a:buSzPts val="1200"/>
              <a:buFont typeface="Arial"/>
              <a:buNone/>
            </a:pPr>
            <a:fld id="{00000000-1234-1234-1234-123412341234}" type="slidenum">
              <a:rPr lang="iw-IL"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Let’s assume we want to create a catalog of all the dogs in a neighborhood. Each dog has several parameters in common that describe it, for example: name, age, type, and so on.</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We will create something called a class, a kind of “template” for every dog we want to represent. Each time we want to create a new dog, we will use the template we created and define the specific parameters for that dog. This process is called instantiation, and each dog we describe is an “object.” Now we can store an array of objects of type Dog.</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006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Now suppose we want to create a catalog of all the cats in the neighborhood. Each cat, just like each dog, has several shared parameters that describe it, for example: name, age, type, and so on.</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348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We will repeat exactly the same steps: create a class of type Cat and then create several objects of type Cat using instantiation. </a:t>
            </a:r>
          </a:p>
          <a:p>
            <a:pPr marL="0" lvl="0" indent="0" algn="l" rtl="0">
              <a:lnSpc>
                <a:spcPct val="100000"/>
              </a:lnSpc>
              <a:spcBef>
                <a:spcPts val="0"/>
              </a:spcBef>
              <a:spcAft>
                <a:spcPts val="0"/>
              </a:spcAft>
              <a:buSzPts val="1400"/>
              <a:buNone/>
            </a:pPr>
            <a:r>
              <a:rPr lang="en-US" dirty="0"/>
              <a:t>If you notice, the only difference between the Dog class and the Cat class is that cats don’t go to parks but instead prefer a certain chair at home.</a:t>
            </a: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7964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We will create something called a base class that contains the parameters shared by both cats and dogs. </a:t>
            </a:r>
          </a:p>
          <a:p>
            <a:pPr marL="0" lvl="0" indent="0" algn="l" rtl="0">
              <a:lnSpc>
                <a:spcPct val="100000"/>
              </a:lnSpc>
              <a:spcBef>
                <a:spcPts val="0"/>
              </a:spcBef>
              <a:spcAft>
                <a:spcPts val="0"/>
              </a:spcAft>
              <a:buSzPts val="1400"/>
              <a:buNone/>
            </a:pPr>
            <a:r>
              <a:rPr lang="en-US" dirty="0"/>
              <a:t>The Cat class and the Dog class will inherit from our base class. This means that all the properties and methods found in the base class will also exist in the Cat class and the Dog class, in addition to specific properties found only in the Dog or Cat classes.</a:t>
            </a:r>
            <a:endParaRPr lang="he-IL"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0692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he-IL"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2300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One option is to do what we did with dogs and cats: create a single base class that everything inherits from.</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8483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Another option is to create multiple levels of inheritance.</a:t>
            </a: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4415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8389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Source: https://www.w3schools.com/java/java_oop.asp</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 constructor is used when we want to create a new instance of our class.</a:t>
            </a:r>
          </a:p>
          <a:p>
            <a:pPr marL="0" lvl="0" indent="0" algn="l" rtl="0">
              <a:lnSpc>
                <a:spcPct val="100000"/>
              </a:lnSpc>
              <a:spcBef>
                <a:spcPts val="0"/>
              </a:spcBef>
              <a:spcAft>
                <a:spcPts val="0"/>
              </a:spcAft>
              <a:buSzPts val="1400"/>
              <a:buNone/>
            </a:pPr>
            <a:endParaRPr lang="he-IL"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6239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Source: https://www.w3schools.com/java/java_oop.asp</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8637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9018F69F-C6DF-4E0C-F93F-F073FFAA6646}"/>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B1F0D0C8-4C6B-BCFC-DAA7-F1936F6260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Source: https://www.w3schools.com/java/java_oop.asp</a:t>
            </a:r>
            <a:endParaRPr lang="he-IL" dirty="0"/>
          </a:p>
        </p:txBody>
      </p:sp>
      <p:sp>
        <p:nvSpPr>
          <p:cNvPr id="107" name="Google Shape;107;p2:notes">
            <a:extLst>
              <a:ext uri="{FF2B5EF4-FFF2-40B4-BE49-F238E27FC236}">
                <a16:creationId xmlns:a16="http://schemas.microsoft.com/office/drawing/2014/main" id="{3EF32C2D-C86C-9554-7367-28E4A3CD60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2496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2307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5821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598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0181C78-14A5-AC44-31FA-3A6778E94A6F}"/>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7C6CB92A-6C8E-B477-F7D5-2D86960F99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a:extLst>
              <a:ext uri="{FF2B5EF4-FFF2-40B4-BE49-F238E27FC236}">
                <a16:creationId xmlns:a16="http://schemas.microsoft.com/office/drawing/2014/main" id="{23BD2513-7292-EE7C-0CE6-E8B98541AF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7820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Source: https://www.w3schools.com/java/java_oop.asp</a:t>
            </a:r>
            <a:endParaRPr lang="he-IL"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6040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15"/>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lvl1pPr lvl="0" algn="ctr" rtl="1">
              <a:lnSpc>
                <a:spcPct val="90000"/>
              </a:lnSpc>
              <a:spcBef>
                <a:spcPts val="800"/>
              </a:spcBef>
              <a:spcAft>
                <a:spcPts val="0"/>
              </a:spcAft>
              <a:buClr>
                <a:schemeClr val="dk1"/>
              </a:buClr>
              <a:buSzPts val="1800"/>
              <a:buNone/>
              <a:defRPr sz="1800"/>
            </a:lvl1pPr>
            <a:lvl2pPr lvl="1" algn="ctr" rtl="1">
              <a:lnSpc>
                <a:spcPct val="90000"/>
              </a:lnSpc>
              <a:spcBef>
                <a:spcPts val="400"/>
              </a:spcBef>
              <a:spcAft>
                <a:spcPts val="0"/>
              </a:spcAft>
              <a:buClr>
                <a:schemeClr val="dk1"/>
              </a:buClr>
              <a:buSzPts val="1500"/>
              <a:buNone/>
              <a:defRPr sz="1500"/>
            </a:lvl2pPr>
            <a:lvl3pPr lvl="2" algn="ctr" rtl="1">
              <a:lnSpc>
                <a:spcPct val="90000"/>
              </a:lnSpc>
              <a:spcBef>
                <a:spcPts val="400"/>
              </a:spcBef>
              <a:spcAft>
                <a:spcPts val="0"/>
              </a:spcAft>
              <a:buClr>
                <a:schemeClr val="dk1"/>
              </a:buClr>
              <a:buSzPts val="1400"/>
              <a:buNone/>
              <a:defRPr sz="1400"/>
            </a:lvl3pPr>
            <a:lvl4pPr lvl="3" algn="ctr" rtl="1">
              <a:lnSpc>
                <a:spcPct val="90000"/>
              </a:lnSpc>
              <a:spcBef>
                <a:spcPts val="400"/>
              </a:spcBef>
              <a:spcAft>
                <a:spcPts val="0"/>
              </a:spcAft>
              <a:buClr>
                <a:schemeClr val="dk1"/>
              </a:buClr>
              <a:buSzPts val="1200"/>
              <a:buNone/>
              <a:defRPr sz="1200"/>
            </a:lvl4pPr>
            <a:lvl5pPr lvl="4" algn="ctr" rtl="1">
              <a:lnSpc>
                <a:spcPct val="90000"/>
              </a:lnSpc>
              <a:spcBef>
                <a:spcPts val="400"/>
              </a:spcBef>
              <a:spcAft>
                <a:spcPts val="0"/>
              </a:spcAft>
              <a:buClr>
                <a:schemeClr val="dk1"/>
              </a:buClr>
              <a:buSzPts val="1200"/>
              <a:buNone/>
              <a:defRPr sz="1200"/>
            </a:lvl5pPr>
            <a:lvl6pPr lvl="5" algn="ctr" rtl="1">
              <a:lnSpc>
                <a:spcPct val="90000"/>
              </a:lnSpc>
              <a:spcBef>
                <a:spcPts val="400"/>
              </a:spcBef>
              <a:spcAft>
                <a:spcPts val="0"/>
              </a:spcAft>
              <a:buClr>
                <a:schemeClr val="dk1"/>
              </a:buClr>
              <a:buSzPts val="1200"/>
              <a:buNone/>
              <a:defRPr sz="1200"/>
            </a:lvl6pPr>
            <a:lvl7pPr lvl="6" algn="ctr" rtl="1">
              <a:lnSpc>
                <a:spcPct val="90000"/>
              </a:lnSpc>
              <a:spcBef>
                <a:spcPts val="400"/>
              </a:spcBef>
              <a:spcAft>
                <a:spcPts val="0"/>
              </a:spcAft>
              <a:buClr>
                <a:schemeClr val="dk1"/>
              </a:buClr>
              <a:buSzPts val="1200"/>
              <a:buNone/>
              <a:defRPr sz="1200"/>
            </a:lvl7pPr>
            <a:lvl8pPr lvl="7" algn="ctr" rtl="1">
              <a:lnSpc>
                <a:spcPct val="90000"/>
              </a:lnSpc>
              <a:spcBef>
                <a:spcPts val="400"/>
              </a:spcBef>
              <a:spcAft>
                <a:spcPts val="0"/>
              </a:spcAft>
              <a:buClr>
                <a:schemeClr val="dk1"/>
              </a:buClr>
              <a:buSzPts val="1200"/>
              <a:buNone/>
              <a:defRPr sz="1200"/>
            </a:lvl8pPr>
            <a:lvl9pPr lvl="8" algn="ctr" rtl="1">
              <a:lnSpc>
                <a:spcPct val="90000"/>
              </a:lnSpc>
              <a:spcBef>
                <a:spcPts val="400"/>
              </a:spcBef>
              <a:spcAft>
                <a:spcPts val="0"/>
              </a:spcAft>
              <a:buClr>
                <a:schemeClr val="dk1"/>
              </a:buClr>
              <a:buSzPts val="1200"/>
              <a:buNone/>
              <a:defRPr sz="1200"/>
            </a:lvl9pPr>
          </a:lstStyle>
          <a:p>
            <a:endParaRPr/>
          </a:p>
        </p:txBody>
      </p:sp>
      <p:sp>
        <p:nvSpPr>
          <p:cNvPr id="18" name="Google Shape;18;p1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19" name="Google Shape;19;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0" name="Google Shape;20;p1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24" name="Google Shape;24;p16"/>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5" name="Google Shape;2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6" name="Google Shape;26;p16"/>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17"/>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rgbClr val="888888"/>
              </a:buClr>
              <a:buSzPts val="1800"/>
              <a:buNone/>
              <a:defRPr sz="1800">
                <a:solidFill>
                  <a:srgbClr val="888888"/>
                </a:solidFill>
              </a:defRPr>
            </a:lvl1pPr>
            <a:lvl2pPr marL="914400" lvl="1" indent="-228600" algn="r" rtl="1">
              <a:lnSpc>
                <a:spcPct val="90000"/>
              </a:lnSpc>
              <a:spcBef>
                <a:spcPts val="400"/>
              </a:spcBef>
              <a:spcAft>
                <a:spcPts val="0"/>
              </a:spcAft>
              <a:buClr>
                <a:srgbClr val="888888"/>
              </a:buClr>
              <a:buSzPts val="1500"/>
              <a:buNone/>
              <a:defRPr sz="1500">
                <a:solidFill>
                  <a:srgbClr val="888888"/>
                </a:solidFill>
              </a:defRPr>
            </a:lvl2pPr>
            <a:lvl3pPr marL="1371600" lvl="2" indent="-228600" algn="r" rtl="1">
              <a:lnSpc>
                <a:spcPct val="90000"/>
              </a:lnSpc>
              <a:spcBef>
                <a:spcPts val="400"/>
              </a:spcBef>
              <a:spcAft>
                <a:spcPts val="0"/>
              </a:spcAft>
              <a:buClr>
                <a:srgbClr val="888888"/>
              </a:buClr>
              <a:buSzPts val="1400"/>
              <a:buNone/>
              <a:defRPr sz="1400">
                <a:solidFill>
                  <a:srgbClr val="888888"/>
                </a:solidFill>
              </a:defRPr>
            </a:lvl3pPr>
            <a:lvl4pPr marL="1828800" lvl="3" indent="-228600" algn="r" rtl="1">
              <a:lnSpc>
                <a:spcPct val="90000"/>
              </a:lnSpc>
              <a:spcBef>
                <a:spcPts val="400"/>
              </a:spcBef>
              <a:spcAft>
                <a:spcPts val="0"/>
              </a:spcAft>
              <a:buClr>
                <a:srgbClr val="888888"/>
              </a:buClr>
              <a:buSzPts val="1200"/>
              <a:buNone/>
              <a:defRPr sz="1200">
                <a:solidFill>
                  <a:srgbClr val="888888"/>
                </a:solidFill>
              </a:defRPr>
            </a:lvl4pPr>
            <a:lvl5pPr marL="2286000" lvl="4" indent="-228600" algn="r" rtl="1">
              <a:lnSpc>
                <a:spcPct val="90000"/>
              </a:lnSpc>
              <a:spcBef>
                <a:spcPts val="400"/>
              </a:spcBef>
              <a:spcAft>
                <a:spcPts val="0"/>
              </a:spcAft>
              <a:buClr>
                <a:srgbClr val="888888"/>
              </a:buClr>
              <a:buSzPts val="1200"/>
              <a:buNone/>
              <a:defRPr sz="1200">
                <a:solidFill>
                  <a:srgbClr val="888888"/>
                </a:solidFill>
              </a:defRPr>
            </a:lvl5pPr>
            <a:lvl6pPr marL="2743200" lvl="5" indent="-228600" algn="r" rtl="1">
              <a:lnSpc>
                <a:spcPct val="90000"/>
              </a:lnSpc>
              <a:spcBef>
                <a:spcPts val="400"/>
              </a:spcBef>
              <a:spcAft>
                <a:spcPts val="0"/>
              </a:spcAft>
              <a:buClr>
                <a:srgbClr val="888888"/>
              </a:buClr>
              <a:buSzPts val="1200"/>
              <a:buNone/>
              <a:defRPr sz="1200">
                <a:solidFill>
                  <a:srgbClr val="888888"/>
                </a:solidFill>
              </a:defRPr>
            </a:lvl6pPr>
            <a:lvl7pPr marL="3200400" lvl="6" indent="-228600" algn="r" rtl="1">
              <a:lnSpc>
                <a:spcPct val="90000"/>
              </a:lnSpc>
              <a:spcBef>
                <a:spcPts val="400"/>
              </a:spcBef>
              <a:spcAft>
                <a:spcPts val="0"/>
              </a:spcAft>
              <a:buClr>
                <a:srgbClr val="888888"/>
              </a:buClr>
              <a:buSzPts val="1200"/>
              <a:buNone/>
              <a:defRPr sz="1200">
                <a:solidFill>
                  <a:srgbClr val="888888"/>
                </a:solidFill>
              </a:defRPr>
            </a:lvl7pPr>
            <a:lvl8pPr marL="3657600" lvl="7" indent="-228600" algn="r" rtl="1">
              <a:lnSpc>
                <a:spcPct val="90000"/>
              </a:lnSpc>
              <a:spcBef>
                <a:spcPts val="400"/>
              </a:spcBef>
              <a:spcAft>
                <a:spcPts val="0"/>
              </a:spcAft>
              <a:buClr>
                <a:srgbClr val="888888"/>
              </a:buClr>
              <a:buSzPts val="1200"/>
              <a:buNone/>
              <a:defRPr sz="1200">
                <a:solidFill>
                  <a:srgbClr val="888888"/>
                </a:solidFill>
              </a:defRPr>
            </a:lvl8pPr>
            <a:lvl9pPr marL="4114800" lvl="8" indent="-228600" algn="r" rtl="1">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0" name="Google Shape;30;p17"/>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1" name="Google Shape;31;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2" name="Google Shape;32;p17"/>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6" name="Google Shape;36;p1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7" name="Google Shape;37;p18"/>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8" name="Google Shape;3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9" name="Google Shape;39;p18"/>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2" name="Google Shape;42;p19"/>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3" name="Google Shape;43;p19"/>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4" name="Google Shape;44;p1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5" name="Google Shape;45;p19"/>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6" name="Google Shape;46;p19"/>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47" name="Google Shape;47;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48" name="Google Shape;48;p19"/>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20"/>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2" name="Google Shape;52;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3" name="Google Shape;53;p20"/>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6" name="Google Shape;56;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7" name="Google Shape;57;p21"/>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22"/>
          <p:cNvSpPr txBox="1">
            <a:spLocks noGrp="1"/>
          </p:cNvSpPr>
          <p:nvPr>
            <p:ph type="body" idx="1"/>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L="457200" lvl="0" indent="-381000" algn="r" rtl="1">
              <a:lnSpc>
                <a:spcPct val="90000"/>
              </a:lnSpc>
              <a:spcBef>
                <a:spcPts val="800"/>
              </a:spcBef>
              <a:spcAft>
                <a:spcPts val="0"/>
              </a:spcAft>
              <a:buClr>
                <a:schemeClr val="dk1"/>
              </a:buClr>
              <a:buSzPts val="2400"/>
              <a:buChar char="•"/>
              <a:defRPr sz="2400"/>
            </a:lvl1pPr>
            <a:lvl2pPr marL="914400" lvl="1" indent="-361950" algn="r" rtl="1">
              <a:lnSpc>
                <a:spcPct val="90000"/>
              </a:lnSpc>
              <a:spcBef>
                <a:spcPts val="400"/>
              </a:spcBef>
              <a:spcAft>
                <a:spcPts val="0"/>
              </a:spcAft>
              <a:buClr>
                <a:schemeClr val="dk1"/>
              </a:buClr>
              <a:buSzPts val="2100"/>
              <a:buChar char="•"/>
              <a:defRPr sz="2100"/>
            </a:lvl2pPr>
            <a:lvl3pPr marL="1371600" lvl="2" indent="-342900" algn="r" rtl="1">
              <a:lnSpc>
                <a:spcPct val="90000"/>
              </a:lnSpc>
              <a:spcBef>
                <a:spcPts val="400"/>
              </a:spcBef>
              <a:spcAft>
                <a:spcPts val="0"/>
              </a:spcAft>
              <a:buClr>
                <a:schemeClr val="dk1"/>
              </a:buClr>
              <a:buSzPts val="1800"/>
              <a:buChar char="•"/>
              <a:defRPr sz="1800"/>
            </a:lvl3pPr>
            <a:lvl4pPr marL="1828800" lvl="3" indent="-323850" algn="r" rtl="1">
              <a:lnSpc>
                <a:spcPct val="90000"/>
              </a:lnSpc>
              <a:spcBef>
                <a:spcPts val="400"/>
              </a:spcBef>
              <a:spcAft>
                <a:spcPts val="0"/>
              </a:spcAft>
              <a:buClr>
                <a:schemeClr val="dk1"/>
              </a:buClr>
              <a:buSzPts val="1500"/>
              <a:buChar char="•"/>
              <a:defRPr sz="1500"/>
            </a:lvl4pPr>
            <a:lvl5pPr marL="2286000" lvl="4" indent="-323850" algn="r" rtl="1">
              <a:lnSpc>
                <a:spcPct val="90000"/>
              </a:lnSpc>
              <a:spcBef>
                <a:spcPts val="400"/>
              </a:spcBef>
              <a:spcAft>
                <a:spcPts val="0"/>
              </a:spcAft>
              <a:buClr>
                <a:schemeClr val="dk1"/>
              </a:buClr>
              <a:buSzPts val="1500"/>
              <a:buChar char="•"/>
              <a:defRPr sz="1500"/>
            </a:lvl5pPr>
            <a:lvl6pPr marL="2743200" lvl="5" indent="-323850" algn="r" rtl="1">
              <a:lnSpc>
                <a:spcPct val="90000"/>
              </a:lnSpc>
              <a:spcBef>
                <a:spcPts val="400"/>
              </a:spcBef>
              <a:spcAft>
                <a:spcPts val="0"/>
              </a:spcAft>
              <a:buClr>
                <a:schemeClr val="dk1"/>
              </a:buClr>
              <a:buSzPts val="1500"/>
              <a:buChar char="•"/>
              <a:defRPr sz="1500"/>
            </a:lvl6pPr>
            <a:lvl7pPr marL="3200400" lvl="6" indent="-323850" algn="r" rtl="1">
              <a:lnSpc>
                <a:spcPct val="90000"/>
              </a:lnSpc>
              <a:spcBef>
                <a:spcPts val="400"/>
              </a:spcBef>
              <a:spcAft>
                <a:spcPts val="0"/>
              </a:spcAft>
              <a:buClr>
                <a:schemeClr val="dk1"/>
              </a:buClr>
              <a:buSzPts val="1500"/>
              <a:buChar char="•"/>
              <a:defRPr sz="1500"/>
            </a:lvl7pPr>
            <a:lvl8pPr marL="3657600" lvl="7" indent="-323850" algn="r" rtl="1">
              <a:lnSpc>
                <a:spcPct val="90000"/>
              </a:lnSpc>
              <a:spcBef>
                <a:spcPts val="400"/>
              </a:spcBef>
              <a:spcAft>
                <a:spcPts val="0"/>
              </a:spcAft>
              <a:buClr>
                <a:schemeClr val="dk1"/>
              </a:buClr>
              <a:buSzPts val="1500"/>
              <a:buChar char="•"/>
              <a:defRPr sz="1500"/>
            </a:lvl8pPr>
            <a:lvl9pPr marL="4114800" lvl="8" indent="-323850" algn="r" rtl="1">
              <a:lnSpc>
                <a:spcPct val="90000"/>
              </a:lnSpc>
              <a:spcBef>
                <a:spcPts val="400"/>
              </a:spcBef>
              <a:spcAft>
                <a:spcPts val="0"/>
              </a:spcAft>
              <a:buClr>
                <a:schemeClr val="dk1"/>
              </a:buClr>
              <a:buSzPts val="1500"/>
              <a:buChar char="•"/>
              <a:defRPr sz="1500"/>
            </a:lvl9pPr>
          </a:lstStyle>
          <a:p>
            <a:endParaRPr/>
          </a:p>
        </p:txBody>
      </p:sp>
      <p:sp>
        <p:nvSpPr>
          <p:cNvPr id="61" name="Google Shape;61;p22"/>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2" name="Google Shape;62;p22"/>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63" name="Google Shape;63;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64" name="Google Shape;64;p22"/>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23"/>
          <p:cNvSpPr>
            <a:spLocks noGrp="1"/>
          </p:cNvSpPr>
          <p:nvPr>
            <p:ph type="pic" idx="2"/>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R="0" lvl="0" algn="r" rtl="1">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r" rtl="1">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r" rtl="1">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23"/>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9" name="Google Shape;69;p23"/>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0" name="Google Shape;70;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1" name="Google Shape;71;p23"/>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4"/>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75" name="Google Shape;75;p2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6" name="Google Shape;7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7" name="Google Shape;77;p2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5"/>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81" name="Google Shape;81;p2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82" name="Google Shape;82;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83" name="Google Shape;83;p2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r"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r" rtl="1">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R="0" lvl="0" algn="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2480128" y="3122082"/>
            <a:ext cx="3853029" cy="1118699"/>
          </a:xfrm>
          <a:prstGeom prst="rect">
            <a:avLst/>
          </a:prstGeom>
          <a:noFill/>
          <a:ln>
            <a:noFill/>
          </a:ln>
        </p:spPr>
      </p:pic>
      <p:grpSp>
        <p:nvGrpSpPr>
          <p:cNvPr id="89" name="Google Shape;89;p1"/>
          <p:cNvGrpSpPr/>
          <p:nvPr/>
        </p:nvGrpSpPr>
        <p:grpSpPr>
          <a:xfrm>
            <a:off x="0" y="0"/>
            <a:ext cx="9144000" cy="2291961"/>
            <a:chOff x="0" y="1072338"/>
            <a:chExt cx="12192000" cy="2764396"/>
          </a:xfrm>
        </p:grpSpPr>
        <p:sp>
          <p:nvSpPr>
            <p:cNvPr id="90" name="Google Shape;90;p1"/>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1" name="Google Shape;91;p1"/>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2" name="Google Shape;92;p1"/>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3" name="Google Shape;93;p1"/>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94" name="Google Shape;94;p1"/>
          <p:cNvSpPr txBox="1"/>
          <p:nvPr/>
        </p:nvSpPr>
        <p:spPr>
          <a:xfrm>
            <a:off x="191624" y="404627"/>
            <a:ext cx="8760752" cy="871991"/>
          </a:xfrm>
          <a:prstGeom prst="rect">
            <a:avLst/>
          </a:prstGeom>
          <a:no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chemeClr val="dk1"/>
              </a:buClr>
              <a:buSzPts val="1100"/>
              <a:buFont typeface="Arial"/>
              <a:buNone/>
            </a:pPr>
            <a:r>
              <a:rPr lang="en-US" sz="3200" b="1" dirty="0">
                <a:solidFill>
                  <a:schemeClr val="bg1"/>
                </a:solidFill>
                <a:latin typeface="Rubik" pitchFamily="2" charset="-79"/>
                <a:cs typeface="Rubik" pitchFamily="2" charset="-79"/>
              </a:rPr>
              <a:t>Introduction to OOP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04" name="Google Shape;104;g9605f3d7aa_0_91"/>
          <p:cNvSpPr txBox="1"/>
          <p:nvPr/>
        </p:nvSpPr>
        <p:spPr>
          <a:xfrm>
            <a:off x="904913" y="307072"/>
            <a:ext cx="7133935" cy="1476300"/>
          </a:xfrm>
          <a:prstGeom prst="rect">
            <a:avLst/>
          </a:prstGeom>
          <a:noFill/>
          <a:ln>
            <a:noFill/>
          </a:ln>
        </p:spPr>
        <p:txBody>
          <a:bodyPr spcFirstLastPara="1" wrap="square" lIns="91425" tIns="91425" rIns="91425" bIns="91425" anchor="t" anchorCtr="0">
            <a:noAutofit/>
          </a:bodyPr>
          <a:lstStyle/>
          <a:p>
            <a:pPr marL="0" lvl="0" indent="0" algn="ctr" rtl="1">
              <a:spcBef>
                <a:spcPts val="0"/>
              </a:spcBef>
              <a:spcAft>
                <a:spcPts val="0"/>
              </a:spcAft>
              <a:buNone/>
            </a:pPr>
            <a:r>
              <a:rPr lang="en-US" sz="6000" b="1" dirty="0">
                <a:solidFill>
                  <a:schemeClr val="bg1"/>
                </a:solidFill>
              </a:rPr>
              <a:t>Classes &amp; Objects</a:t>
            </a:r>
            <a:endParaRPr sz="6000" b="1" dirty="0">
              <a:solidFill>
                <a:schemeClr val="bg1"/>
              </a:solidFill>
            </a:endParaRPr>
          </a:p>
        </p:txBody>
      </p:sp>
      <p:pic>
        <p:nvPicPr>
          <p:cNvPr id="2" name="Picture 2">
            <a:extLst>
              <a:ext uri="{FF2B5EF4-FFF2-40B4-BE49-F238E27FC236}">
                <a16:creationId xmlns:a16="http://schemas.microsoft.com/office/drawing/2014/main" id="{4792C4A6-A766-BBE2-BBF8-995F7D520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763" y="2704897"/>
            <a:ext cx="1922473" cy="19224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Catalog of dogs in your neighborhood</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536194" y="1227300"/>
            <a:ext cx="3603772" cy="3189719"/>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2400" u="sng" dirty="0">
                <a:solidFill>
                  <a:schemeClr val="dk1"/>
                </a:solidFill>
                <a:latin typeface="Rubik" pitchFamily="2" charset="-79"/>
                <a:cs typeface="Rubik" pitchFamily="2" charset="-79"/>
              </a:rPr>
              <a:t>Properties:</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Name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Age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Type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Sex</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Address</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accent2"/>
                </a:solidFill>
                <a:latin typeface="Rubik" panose="020B0604020202020204" charset="-79"/>
                <a:cs typeface="Rubik" panose="020B0604020202020204" charset="-79"/>
              </a:rPr>
              <a:t>Preferable park</a:t>
            </a:r>
          </a:p>
          <a:p>
            <a:pPr lvl="0" algn="l">
              <a:lnSpc>
                <a:spcPct val="115000"/>
              </a:lnSpc>
              <a:spcBef>
                <a:spcPts val="0"/>
              </a:spcBef>
              <a:spcAft>
                <a:spcPts val="0"/>
              </a:spcAft>
            </a:pPr>
            <a:endParaRPr lang="en-US" sz="1100" dirty="0">
              <a:solidFill>
                <a:schemeClr val="dk1"/>
              </a:solidFill>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ighest Rated Pet Care Providers in Downtown Orlando | Eola Pets – Happy  Pets, Happy People, Happy Neighborhood">
            <a:extLst>
              <a:ext uri="{FF2B5EF4-FFF2-40B4-BE49-F238E27FC236}">
                <a16:creationId xmlns:a16="http://schemas.microsoft.com/office/drawing/2014/main" id="{58A98231-ED65-FFC9-D12D-291EE20C6C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580" y="1227299"/>
            <a:ext cx="4568240" cy="3189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Class: Dog</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468700" y="976890"/>
            <a:ext cx="4869289" cy="3983072"/>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800" dirty="0">
                <a:solidFill>
                  <a:schemeClr val="dk1"/>
                </a:solidFill>
                <a:latin typeface="Rubik" pitchFamily="2" charset="-79"/>
                <a:cs typeface="Rubik" pitchFamily="2" charset="-79"/>
              </a:rPr>
              <a:t>class </a:t>
            </a:r>
            <a:r>
              <a:rPr lang="en-US" sz="1800" b="1" dirty="0">
                <a:solidFill>
                  <a:schemeClr val="dk1"/>
                </a:solidFill>
                <a:latin typeface="Rubik" pitchFamily="2" charset="-79"/>
                <a:cs typeface="Rubik" pitchFamily="2" charset="-79"/>
              </a:rPr>
              <a:t>Dog</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name;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int age;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type;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char sex; // f – female, m - male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address;</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a:t>
            </a:r>
            <a:r>
              <a:rPr lang="en-US" sz="1800" dirty="0" err="1">
                <a:solidFill>
                  <a:schemeClr val="dk1"/>
                </a:solidFill>
                <a:latin typeface="Rubik" pitchFamily="2" charset="-79"/>
                <a:cs typeface="Rubik" pitchFamily="2" charset="-79"/>
              </a:rPr>
              <a:t>preferablePark</a:t>
            </a: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Dog dog1; // instance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Dog dog2; // instance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Dog[] dogs = {dog1, dog2}</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8594E87-CD7B-9DD4-BECF-4B861233C6A2}"/>
              </a:ext>
            </a:extLst>
          </p:cNvPr>
          <p:cNvPicPr>
            <a:picLocks noChangeAspect="1"/>
          </p:cNvPicPr>
          <p:nvPr/>
        </p:nvPicPr>
        <p:blipFill>
          <a:blip r:embed="rId4"/>
          <a:stretch>
            <a:fillRect/>
          </a:stretch>
        </p:blipFill>
        <p:spPr>
          <a:xfrm>
            <a:off x="5987079" y="1129834"/>
            <a:ext cx="1912992" cy="3400874"/>
          </a:xfrm>
          <a:prstGeom prst="rect">
            <a:avLst/>
          </a:prstGeom>
        </p:spPr>
      </p:pic>
      <p:sp>
        <p:nvSpPr>
          <p:cNvPr id="7" name="Google Shape;118;p2">
            <a:extLst>
              <a:ext uri="{FF2B5EF4-FFF2-40B4-BE49-F238E27FC236}">
                <a16:creationId xmlns:a16="http://schemas.microsoft.com/office/drawing/2014/main" id="{C01F7573-944F-5F78-CD87-701468D912D5}"/>
              </a:ext>
            </a:extLst>
          </p:cNvPr>
          <p:cNvSpPr txBox="1"/>
          <p:nvPr/>
        </p:nvSpPr>
        <p:spPr>
          <a:xfrm>
            <a:off x="4177487" y="4643500"/>
            <a:ext cx="1912992" cy="63292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dirty="0">
                <a:solidFill>
                  <a:srgbClr val="FF0000"/>
                </a:solidFill>
                <a:latin typeface="Rubik" pitchFamily="2" charset="-79"/>
                <a:cs typeface="Rubik" pitchFamily="2" charset="-79"/>
              </a:rPr>
              <a:t>*Not actual code</a:t>
            </a:r>
          </a:p>
        </p:txBody>
      </p:sp>
    </p:spTree>
    <p:extLst>
      <p:ext uri="{BB962C8B-B14F-4D97-AF65-F5344CB8AC3E}">
        <p14:creationId xmlns:p14="http://schemas.microsoft.com/office/powerpoint/2010/main" val="195494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Catalog of cats in your neighborhood</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536194" y="1227300"/>
            <a:ext cx="3603772" cy="3189719"/>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2400" u="sng" dirty="0">
                <a:solidFill>
                  <a:schemeClr val="dk1"/>
                </a:solidFill>
                <a:latin typeface="Rubik" pitchFamily="2" charset="-79"/>
                <a:cs typeface="Rubik" pitchFamily="2" charset="-79"/>
              </a:rPr>
              <a:t>Properties:</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Name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Age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Type</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Sex</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dk1"/>
                </a:solidFill>
                <a:latin typeface="Rubik" panose="020B0604020202020204" charset="-79"/>
                <a:cs typeface="Rubik" panose="020B0604020202020204" charset="-79"/>
              </a:rPr>
              <a:t>Address</a:t>
            </a:r>
          </a:p>
          <a:p>
            <a:pPr marL="285750" lvl="0" indent="-285750" algn="l">
              <a:lnSpc>
                <a:spcPct val="115000"/>
              </a:lnSpc>
              <a:spcBef>
                <a:spcPts val="0"/>
              </a:spcBef>
              <a:spcAft>
                <a:spcPts val="0"/>
              </a:spcAft>
              <a:buFont typeface="Arial" panose="020B0604020202020204" pitchFamily="34" charset="0"/>
              <a:buChar char="•"/>
            </a:pPr>
            <a:r>
              <a:rPr lang="en-US" sz="2100" dirty="0">
                <a:solidFill>
                  <a:schemeClr val="accent1"/>
                </a:solidFill>
                <a:latin typeface="Rubik" panose="020B0604020202020204" charset="-79"/>
                <a:cs typeface="Rubik" panose="020B0604020202020204" charset="-79"/>
              </a:rPr>
              <a:t>Preferable chair</a:t>
            </a:r>
          </a:p>
          <a:p>
            <a:pPr lvl="0" algn="l">
              <a:lnSpc>
                <a:spcPct val="115000"/>
              </a:lnSpc>
              <a:spcBef>
                <a:spcPts val="0"/>
              </a:spcBef>
              <a:spcAft>
                <a:spcPts val="0"/>
              </a:spcAft>
            </a:pPr>
            <a:endParaRPr lang="en-US" sz="1100" dirty="0">
              <a:solidFill>
                <a:schemeClr val="dk1"/>
              </a:solidFill>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B6B41A09-157B-0B19-C9CC-832BD63945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1420" y="1227300"/>
            <a:ext cx="4461855" cy="3346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530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Class: Cat</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468700" y="976890"/>
            <a:ext cx="4869289" cy="3983072"/>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800" dirty="0">
                <a:solidFill>
                  <a:schemeClr val="dk1"/>
                </a:solidFill>
                <a:latin typeface="Rubik" pitchFamily="2" charset="-79"/>
                <a:cs typeface="Rubik" pitchFamily="2" charset="-79"/>
              </a:rPr>
              <a:t>class </a:t>
            </a:r>
            <a:r>
              <a:rPr lang="en-US" sz="1800" b="1" dirty="0">
                <a:solidFill>
                  <a:schemeClr val="dk1"/>
                </a:solidFill>
                <a:latin typeface="Rubik" pitchFamily="2" charset="-79"/>
                <a:cs typeface="Rubik" pitchFamily="2" charset="-79"/>
              </a:rPr>
              <a:t>Cat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name;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int age;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type;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char sex; // f – female, m - male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address;</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a:t>
            </a:r>
            <a:r>
              <a:rPr lang="en-US" sz="1800" dirty="0" err="1">
                <a:solidFill>
                  <a:schemeClr val="dk1"/>
                </a:solidFill>
                <a:latin typeface="Rubik" pitchFamily="2" charset="-79"/>
                <a:cs typeface="Rubik" pitchFamily="2" charset="-79"/>
              </a:rPr>
              <a:t>preferableChair</a:t>
            </a: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Cat cat1 ; // instance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Cat cat1 ; // instance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Cat[] cats = {cat1, cat2}</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18;p2">
            <a:extLst>
              <a:ext uri="{FF2B5EF4-FFF2-40B4-BE49-F238E27FC236}">
                <a16:creationId xmlns:a16="http://schemas.microsoft.com/office/drawing/2014/main" id="{C01F7573-944F-5F78-CD87-701468D912D5}"/>
              </a:ext>
            </a:extLst>
          </p:cNvPr>
          <p:cNvSpPr txBox="1"/>
          <p:nvPr/>
        </p:nvSpPr>
        <p:spPr>
          <a:xfrm>
            <a:off x="4177487" y="4643500"/>
            <a:ext cx="1912992" cy="63292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dirty="0">
                <a:solidFill>
                  <a:srgbClr val="FF0000"/>
                </a:solidFill>
                <a:latin typeface="Rubik" pitchFamily="2" charset="-79"/>
                <a:cs typeface="Rubik" pitchFamily="2" charset="-79"/>
              </a:rPr>
              <a:t>*Not actual code</a:t>
            </a:r>
          </a:p>
        </p:txBody>
      </p:sp>
      <p:pic>
        <p:nvPicPr>
          <p:cNvPr id="2050" name="Picture 2" descr="Funny British Shorthair Cat Portrait Looking Shocked Or Surprised Stock  Photo - Download Image Now - iStock">
            <a:extLst>
              <a:ext uri="{FF2B5EF4-FFF2-40B4-BE49-F238E27FC236}">
                <a16:creationId xmlns:a16="http://schemas.microsoft.com/office/drawing/2014/main" id="{09C4C762-5C8B-883B-0D63-A77E9FBD7D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93" r="16454"/>
          <a:stretch/>
        </p:blipFill>
        <p:spPr bwMode="auto">
          <a:xfrm>
            <a:off x="6241778" y="1661239"/>
            <a:ext cx="2049022" cy="2373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307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5"/>
            <a:ext cx="9147753" cy="634823"/>
            <a:chOff x="0" y="162815"/>
            <a:chExt cx="9147753" cy="6348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5200" y="1628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Base class </a:t>
            </a:r>
            <a:r>
              <a:rPr lang="en-US" sz="3000" b="1" dirty="0" err="1">
                <a:solidFill>
                  <a:srgbClr val="FFFFFF"/>
                </a:solidFill>
                <a:latin typeface="Rubik"/>
                <a:ea typeface="Rubik"/>
                <a:cs typeface="Rubik"/>
                <a:sym typeface="Rubik"/>
              </a:rPr>
              <a:t>HomeAnimal</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468700" y="976890"/>
            <a:ext cx="4869289" cy="3983072"/>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800" dirty="0">
                <a:solidFill>
                  <a:schemeClr val="dk1"/>
                </a:solidFill>
                <a:latin typeface="Rubik" pitchFamily="2" charset="-79"/>
                <a:cs typeface="Rubik" pitchFamily="2" charset="-79"/>
              </a:rPr>
              <a:t>class </a:t>
            </a:r>
            <a:r>
              <a:rPr lang="en-US" sz="1800" b="1" dirty="0" err="1">
                <a:solidFill>
                  <a:schemeClr val="dk1"/>
                </a:solidFill>
                <a:latin typeface="Rubik" pitchFamily="2" charset="-79"/>
                <a:cs typeface="Rubik" pitchFamily="2" charset="-79"/>
              </a:rPr>
              <a:t>HomeAnimal</a:t>
            </a:r>
            <a:endParaRPr lang="en-US" sz="1800" b="1" dirty="0">
              <a:solidFill>
                <a:schemeClr val="dk1"/>
              </a:solidFill>
              <a:latin typeface="Rubik" pitchFamily="2" charset="-79"/>
              <a:cs typeface="Rubik" pitchFamily="2" charset="-79"/>
            </a:endParaRP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name;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int age;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type;</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char sex; </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    string address;</a:t>
            </a:r>
          </a:p>
          <a:p>
            <a:pPr lvl="0" algn="l">
              <a:lnSpc>
                <a:spcPct val="115000"/>
              </a:lnSpc>
              <a:spcBef>
                <a:spcPts val="0"/>
              </a:spcBef>
              <a:spcAft>
                <a:spcPts val="0"/>
              </a:spcAft>
            </a:pPr>
            <a:r>
              <a:rPr lang="en-US" sz="1800" dirty="0">
                <a:solidFill>
                  <a:schemeClr val="dk1"/>
                </a:solidFill>
                <a:latin typeface="Rubik" pitchFamily="2" charset="-79"/>
                <a:cs typeface="Rubik" pitchFamily="2" charset="-79"/>
              </a:rPr>
              <a:t>}</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18;p2">
            <a:extLst>
              <a:ext uri="{FF2B5EF4-FFF2-40B4-BE49-F238E27FC236}">
                <a16:creationId xmlns:a16="http://schemas.microsoft.com/office/drawing/2014/main" id="{C01F7573-944F-5F78-CD87-701468D912D5}"/>
              </a:ext>
            </a:extLst>
          </p:cNvPr>
          <p:cNvSpPr txBox="1"/>
          <p:nvPr/>
        </p:nvSpPr>
        <p:spPr>
          <a:xfrm>
            <a:off x="468700" y="3795979"/>
            <a:ext cx="1912992" cy="63292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dirty="0">
                <a:solidFill>
                  <a:srgbClr val="FF0000"/>
                </a:solidFill>
                <a:latin typeface="Rubik" pitchFamily="2" charset="-79"/>
                <a:cs typeface="Rubik" pitchFamily="2" charset="-79"/>
              </a:rPr>
              <a:t>*Not actual code</a:t>
            </a:r>
          </a:p>
        </p:txBody>
      </p:sp>
      <p:sp>
        <p:nvSpPr>
          <p:cNvPr id="5" name="TextBox 4">
            <a:extLst>
              <a:ext uri="{FF2B5EF4-FFF2-40B4-BE49-F238E27FC236}">
                <a16:creationId xmlns:a16="http://schemas.microsoft.com/office/drawing/2014/main" id="{F4A04BB3-72F4-0CD6-37C3-2EDBE0AAFCBB}"/>
              </a:ext>
            </a:extLst>
          </p:cNvPr>
          <p:cNvSpPr txBox="1"/>
          <p:nvPr/>
        </p:nvSpPr>
        <p:spPr>
          <a:xfrm>
            <a:off x="3091487" y="2250094"/>
            <a:ext cx="3026854" cy="2575021"/>
          </a:xfrm>
          <a:prstGeom prst="rect">
            <a:avLst/>
          </a:prstGeom>
          <a:noFill/>
        </p:spPr>
        <p:txBody>
          <a:bodyPr wrap="square">
            <a:spAutoFit/>
          </a:bodyPr>
          <a:lstStyle/>
          <a:p>
            <a:pPr marL="0" indent="0">
              <a:buFont typeface="Arial" panose="020B0604020202020204" pitchFamily="34" charset="0"/>
              <a:buNone/>
            </a:pPr>
            <a:r>
              <a:rPr lang="en-US" sz="1800" dirty="0">
                <a:latin typeface="Rubik" panose="020B0604020202020204" charset="-79"/>
                <a:cs typeface="Rubik" panose="020B0604020202020204" charset="-79"/>
              </a:rPr>
              <a:t>class </a:t>
            </a:r>
            <a:r>
              <a:rPr lang="en-US" sz="1800" b="1" dirty="0">
                <a:latin typeface="Rubik" panose="020B0604020202020204" charset="-79"/>
                <a:cs typeface="Rubik" panose="020B0604020202020204" charset="-79"/>
              </a:rPr>
              <a:t>Cat</a:t>
            </a:r>
            <a:r>
              <a:rPr lang="en-US" sz="1800" dirty="0">
                <a:latin typeface="Rubik" panose="020B0604020202020204" charset="-79"/>
                <a:cs typeface="Rubik" panose="020B0604020202020204" charset="-79"/>
              </a:rPr>
              <a:t> extends </a:t>
            </a:r>
            <a:r>
              <a:rPr lang="en-US" sz="1800" b="1" dirty="0">
                <a:latin typeface="Rubik" panose="020B0604020202020204" charset="-79"/>
                <a:cs typeface="Rubik" panose="020B0604020202020204" charset="-79"/>
              </a:rPr>
              <a:t>Animal</a:t>
            </a: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string </a:t>
            </a:r>
            <a:r>
              <a:rPr lang="en-US" sz="1800" dirty="0" err="1">
                <a:latin typeface="Rubik" panose="020B0604020202020204" charset="-79"/>
                <a:cs typeface="Rubik" panose="020B0604020202020204" charset="-79"/>
              </a:rPr>
              <a:t>preferableChair</a:t>
            </a: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a:t>
            </a: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class </a:t>
            </a:r>
            <a:r>
              <a:rPr lang="en-US" sz="1800" b="1" dirty="0">
                <a:latin typeface="Rubik" panose="020B0604020202020204" charset="-79"/>
                <a:cs typeface="Rubik" panose="020B0604020202020204" charset="-79"/>
              </a:rPr>
              <a:t>Dog</a:t>
            </a:r>
            <a:r>
              <a:rPr lang="en-US" sz="1800" dirty="0">
                <a:latin typeface="Rubik" panose="020B0604020202020204" charset="-79"/>
                <a:cs typeface="Rubik" panose="020B0604020202020204" charset="-79"/>
              </a:rPr>
              <a:t> extends </a:t>
            </a:r>
            <a:r>
              <a:rPr lang="en-US" sz="1800" b="1" dirty="0">
                <a:latin typeface="Rubik" panose="020B0604020202020204" charset="-79"/>
                <a:cs typeface="Rubik" panose="020B0604020202020204" charset="-79"/>
              </a:rPr>
              <a:t>Animal</a:t>
            </a: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string </a:t>
            </a:r>
            <a:r>
              <a:rPr lang="en-US" sz="1800" dirty="0" err="1">
                <a:latin typeface="Rubik" panose="020B0604020202020204" charset="-79"/>
                <a:cs typeface="Rubik" panose="020B0604020202020204" charset="-79"/>
              </a:rPr>
              <a:t>preferablePark</a:t>
            </a: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a:t>
            </a:r>
          </a:p>
        </p:txBody>
      </p:sp>
      <p:pic>
        <p:nvPicPr>
          <p:cNvPr id="15" name="Picture 14">
            <a:extLst>
              <a:ext uri="{FF2B5EF4-FFF2-40B4-BE49-F238E27FC236}">
                <a16:creationId xmlns:a16="http://schemas.microsoft.com/office/drawing/2014/main" id="{8DE3486F-6136-7D59-858E-7C1C61F5400A}"/>
              </a:ext>
            </a:extLst>
          </p:cNvPr>
          <p:cNvPicPr>
            <a:picLocks noChangeAspect="1"/>
          </p:cNvPicPr>
          <p:nvPr/>
        </p:nvPicPr>
        <p:blipFill>
          <a:blip r:embed="rId4"/>
          <a:stretch>
            <a:fillRect/>
          </a:stretch>
        </p:blipFill>
        <p:spPr>
          <a:xfrm>
            <a:off x="6395523" y="1381428"/>
            <a:ext cx="2464077" cy="2187767"/>
          </a:xfrm>
          <a:prstGeom prst="rect">
            <a:avLst/>
          </a:prstGeom>
        </p:spPr>
      </p:pic>
    </p:spTree>
    <p:extLst>
      <p:ext uri="{BB962C8B-B14F-4D97-AF65-F5344CB8AC3E}">
        <p14:creationId xmlns:p14="http://schemas.microsoft.com/office/powerpoint/2010/main" val="1923898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2814"/>
            <a:ext cx="9147753" cy="634824"/>
            <a:chOff x="0" y="162814"/>
            <a:chExt cx="9147753" cy="634824"/>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72598"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Build a catalog for the full zoo</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9B29F2C0-E87D-62D3-F741-5403D7F4C3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010" b="6667"/>
          <a:stretch/>
        </p:blipFill>
        <p:spPr bwMode="auto">
          <a:xfrm>
            <a:off x="2143125" y="1092634"/>
            <a:ext cx="4857750" cy="3513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876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One level of inheritance / extension</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E369F0C-232C-D0E7-3653-8CBC34BE8E16}"/>
              </a:ext>
            </a:extLst>
          </p:cNvPr>
          <p:cNvPicPr>
            <a:picLocks noChangeAspect="1"/>
          </p:cNvPicPr>
          <p:nvPr/>
        </p:nvPicPr>
        <p:blipFill>
          <a:blip r:embed="rId4"/>
          <a:stretch>
            <a:fillRect/>
          </a:stretch>
        </p:blipFill>
        <p:spPr>
          <a:xfrm>
            <a:off x="1466849" y="1770713"/>
            <a:ext cx="6029325" cy="1836317"/>
          </a:xfrm>
          <a:prstGeom prst="rect">
            <a:avLst/>
          </a:prstGeom>
        </p:spPr>
      </p:pic>
    </p:spTree>
    <p:extLst>
      <p:ext uri="{BB962C8B-B14F-4D97-AF65-F5344CB8AC3E}">
        <p14:creationId xmlns:p14="http://schemas.microsoft.com/office/powerpoint/2010/main" val="2589263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86174" y="183538"/>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Multiple levels of inheritance /extension</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8922" y="4375715"/>
            <a:ext cx="765078" cy="7650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86A82C2-73E9-7F28-B589-238ED19A76F8}"/>
              </a:ext>
            </a:extLst>
          </p:cNvPr>
          <p:cNvPicPr>
            <a:picLocks noChangeAspect="1"/>
          </p:cNvPicPr>
          <p:nvPr/>
        </p:nvPicPr>
        <p:blipFill>
          <a:blip r:embed="rId4"/>
          <a:stretch>
            <a:fillRect/>
          </a:stretch>
        </p:blipFill>
        <p:spPr>
          <a:xfrm>
            <a:off x="43087" y="1009018"/>
            <a:ext cx="9057826" cy="3020853"/>
          </a:xfrm>
          <a:prstGeom prst="rect">
            <a:avLst/>
          </a:prstGeom>
        </p:spPr>
      </p:pic>
      <p:sp>
        <p:nvSpPr>
          <p:cNvPr id="7" name="TextBox 6">
            <a:extLst>
              <a:ext uri="{FF2B5EF4-FFF2-40B4-BE49-F238E27FC236}">
                <a16:creationId xmlns:a16="http://schemas.microsoft.com/office/drawing/2014/main" id="{37B65AF1-A52A-186B-902B-94ADF1825193}"/>
              </a:ext>
            </a:extLst>
          </p:cNvPr>
          <p:cNvSpPr txBox="1"/>
          <p:nvPr/>
        </p:nvSpPr>
        <p:spPr>
          <a:xfrm>
            <a:off x="2271713" y="4388922"/>
            <a:ext cx="4600574" cy="369332"/>
          </a:xfrm>
          <a:prstGeom prst="rect">
            <a:avLst/>
          </a:prstGeom>
          <a:noFill/>
        </p:spPr>
        <p:txBody>
          <a:bodyPr wrap="square">
            <a:spAutoFit/>
          </a:bodyPr>
          <a:lstStyle/>
          <a:p>
            <a:pPr marL="0" indent="0" algn="ctr">
              <a:buNone/>
            </a:pPr>
            <a:r>
              <a:rPr lang="en-US" sz="1800" dirty="0">
                <a:latin typeface="Rubik" panose="020B0604020202020204" charset="-79"/>
                <a:cs typeface="Rubik" panose="020B0604020202020204" charset="-79"/>
              </a:rPr>
              <a:t>Animal[] animals = {animal1, animal2}</a:t>
            </a:r>
          </a:p>
        </p:txBody>
      </p:sp>
      <p:sp>
        <p:nvSpPr>
          <p:cNvPr id="8" name="Google Shape;118;p2">
            <a:extLst>
              <a:ext uri="{FF2B5EF4-FFF2-40B4-BE49-F238E27FC236}">
                <a16:creationId xmlns:a16="http://schemas.microsoft.com/office/drawing/2014/main" id="{372E9E3C-1B9C-95A4-18EC-A25CB663DC8F}"/>
              </a:ext>
            </a:extLst>
          </p:cNvPr>
          <p:cNvSpPr txBox="1"/>
          <p:nvPr/>
        </p:nvSpPr>
        <p:spPr>
          <a:xfrm>
            <a:off x="6808161" y="4719904"/>
            <a:ext cx="1912992" cy="63292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dirty="0">
                <a:solidFill>
                  <a:srgbClr val="FF0000"/>
                </a:solidFill>
                <a:latin typeface="Rubik" pitchFamily="2" charset="-79"/>
                <a:cs typeface="Rubik" pitchFamily="2" charset="-79"/>
              </a:rPr>
              <a:t>*Not actual code</a:t>
            </a:r>
          </a:p>
        </p:txBody>
      </p:sp>
    </p:spTree>
    <p:extLst>
      <p:ext uri="{BB962C8B-B14F-4D97-AF65-F5344CB8AC3E}">
        <p14:creationId xmlns:p14="http://schemas.microsoft.com/office/powerpoint/2010/main" val="2232231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04" name="Google Shape;104;g9605f3d7aa_0_91"/>
          <p:cNvSpPr txBox="1"/>
          <p:nvPr/>
        </p:nvSpPr>
        <p:spPr>
          <a:xfrm>
            <a:off x="1451985" y="238092"/>
            <a:ext cx="6039794" cy="1476300"/>
          </a:xfrm>
          <a:prstGeom prst="rect">
            <a:avLst/>
          </a:prstGeom>
          <a:noFill/>
          <a:ln>
            <a:noFill/>
          </a:ln>
        </p:spPr>
        <p:txBody>
          <a:bodyPr spcFirstLastPara="1" wrap="square" lIns="91425" tIns="91425" rIns="91425" bIns="91425" anchor="t" anchorCtr="0">
            <a:noAutofit/>
          </a:bodyPr>
          <a:lstStyle/>
          <a:p>
            <a:pPr marL="0" lvl="0" indent="0" algn="ctr" rtl="1">
              <a:spcBef>
                <a:spcPts val="0"/>
              </a:spcBef>
              <a:spcAft>
                <a:spcPts val="0"/>
              </a:spcAft>
              <a:buNone/>
            </a:pPr>
            <a:r>
              <a:rPr lang="en-US" sz="7200" b="1" dirty="0">
                <a:solidFill>
                  <a:schemeClr val="bg1"/>
                </a:solidFill>
                <a:latin typeface="Rubik" pitchFamily="2" charset="-79"/>
                <a:cs typeface="Rubik" pitchFamily="2" charset="-79"/>
              </a:rPr>
              <a:t>Syntax</a:t>
            </a:r>
            <a:r>
              <a:rPr lang="he-IL" sz="7200" b="1" dirty="0">
                <a:solidFill>
                  <a:schemeClr val="bg1"/>
                </a:solidFill>
                <a:latin typeface="Rubik" pitchFamily="2" charset="-79"/>
                <a:cs typeface="Rubik" pitchFamily="2" charset="-79"/>
              </a:rPr>
              <a:t> </a:t>
            </a:r>
            <a:r>
              <a:rPr lang="en-US" sz="7200" b="1" dirty="0">
                <a:solidFill>
                  <a:schemeClr val="bg1"/>
                </a:solidFill>
                <a:latin typeface="Rubik" pitchFamily="2" charset="-79"/>
                <a:cs typeface="Rubik" pitchFamily="2" charset="-79"/>
              </a:rPr>
              <a:t>Java</a:t>
            </a:r>
          </a:p>
        </p:txBody>
      </p:sp>
      <p:pic>
        <p:nvPicPr>
          <p:cNvPr id="3" name="Picture 2">
            <a:extLst>
              <a:ext uri="{FF2B5EF4-FFF2-40B4-BE49-F238E27FC236}">
                <a16:creationId xmlns:a16="http://schemas.microsoft.com/office/drawing/2014/main" id="{A55C05F3-B629-7F81-DB95-D922C20CAF85}"/>
              </a:ext>
            </a:extLst>
          </p:cNvPr>
          <p:cNvPicPr>
            <a:picLocks noChangeAspect="1"/>
          </p:cNvPicPr>
          <p:nvPr/>
        </p:nvPicPr>
        <p:blipFill>
          <a:blip r:embed="rId3"/>
          <a:stretch>
            <a:fillRect/>
          </a:stretch>
        </p:blipFill>
        <p:spPr>
          <a:xfrm>
            <a:off x="3245322" y="2452288"/>
            <a:ext cx="2453120" cy="2453120"/>
          </a:xfrm>
          <a:prstGeom prst="rect">
            <a:avLst/>
          </a:prstGeom>
        </p:spPr>
      </p:pic>
    </p:spTree>
    <p:extLst>
      <p:ext uri="{BB962C8B-B14F-4D97-AF65-F5344CB8AC3E}">
        <p14:creationId xmlns:p14="http://schemas.microsoft.com/office/powerpoint/2010/main" val="1727950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Create a Class</a:t>
            </a:r>
            <a:endParaRPr lang="he-IL" sz="3000" b="1" i="0" u="none" strike="noStrike" cap="none" dirty="0">
              <a:solidFill>
                <a:srgbClr val="FFFFFF"/>
              </a:solidFill>
              <a:latin typeface="Rubik"/>
              <a:ea typeface="Rubik"/>
              <a:cs typeface="Rubik"/>
              <a:sym typeface="Rubik"/>
            </a:endParaRPr>
          </a:p>
        </p:txBody>
      </p:sp>
      <p:sp>
        <p:nvSpPr>
          <p:cNvPr id="3" name="TextBox 2">
            <a:extLst>
              <a:ext uri="{FF2B5EF4-FFF2-40B4-BE49-F238E27FC236}">
                <a16:creationId xmlns:a16="http://schemas.microsoft.com/office/drawing/2014/main" id="{3C4A95F9-D0A1-EE8C-0EE7-A42B97E51C94}"/>
              </a:ext>
            </a:extLst>
          </p:cNvPr>
          <p:cNvSpPr txBox="1"/>
          <p:nvPr/>
        </p:nvSpPr>
        <p:spPr>
          <a:xfrm>
            <a:off x="3025153" y="1008467"/>
            <a:ext cx="4880598" cy="3970318"/>
          </a:xfrm>
          <a:prstGeom prst="rect">
            <a:avLst/>
          </a:prstGeom>
          <a:noFill/>
        </p:spPr>
        <p:txBody>
          <a:bodyPr wrap="square">
            <a:spAutoFit/>
          </a:bodyPr>
          <a:lstStyle/>
          <a:p>
            <a:pPr marL="0" indent="0">
              <a:buFont typeface="Arial" panose="020B0604020202020204" pitchFamily="34" charset="0"/>
              <a:buNone/>
            </a:pPr>
            <a:r>
              <a:rPr lang="en-US" sz="1800" dirty="0">
                <a:latin typeface="Rubik" panose="020B0604020202020204" charset="-79"/>
                <a:cs typeface="Rubik" panose="020B0604020202020204" charset="-79"/>
              </a:rPr>
              <a:t>public class </a:t>
            </a:r>
            <a:r>
              <a:rPr lang="en-US" sz="1800" b="1" dirty="0" err="1">
                <a:latin typeface="Rubik" panose="020B0604020202020204" charset="-79"/>
                <a:cs typeface="Rubik" panose="020B0604020202020204" charset="-79"/>
              </a:rPr>
              <a:t>ClassName</a:t>
            </a:r>
            <a:endParaRPr lang="en-US" sz="1800" b="1"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b="1" dirty="0">
                <a:latin typeface="Rubik" panose="020B0604020202020204" charset="-79"/>
                <a:cs typeface="Rubik" panose="020B0604020202020204" charset="-79"/>
              </a:rPr>
              <a:t>private</a:t>
            </a:r>
            <a:r>
              <a:rPr lang="en-US" sz="1800" dirty="0">
                <a:latin typeface="Rubik" panose="020B0604020202020204" charset="-79"/>
                <a:cs typeface="Rubik" panose="020B0604020202020204" charset="-79"/>
              </a:rPr>
              <a:t> int name;</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b="1" dirty="0">
                <a:latin typeface="Rubik" panose="020B0604020202020204" charset="-79"/>
                <a:cs typeface="Rubik" panose="020B0604020202020204" charset="-79"/>
              </a:rPr>
              <a:t>private</a:t>
            </a:r>
            <a:r>
              <a:rPr lang="en-US" sz="1800" dirty="0">
                <a:latin typeface="Rubik" panose="020B0604020202020204" charset="-79"/>
                <a:cs typeface="Rubik" panose="020B0604020202020204" charset="-79"/>
              </a:rPr>
              <a:t> int age;</a:t>
            </a: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    public </a:t>
            </a:r>
            <a:r>
              <a:rPr lang="en-US" sz="1800" b="1" dirty="0" err="1">
                <a:latin typeface="Rubik" panose="020B0604020202020204" charset="-79"/>
                <a:cs typeface="Rubik" panose="020B0604020202020204" charset="-79"/>
              </a:rPr>
              <a:t>ClassName</a:t>
            </a:r>
            <a:r>
              <a:rPr lang="en-US" sz="1800" dirty="0">
                <a:latin typeface="Rubik" panose="020B0604020202020204" charset="-79"/>
                <a:cs typeface="Rubik" panose="020B0604020202020204" charset="-79"/>
              </a:rPr>
              <a:t>(int name, int age) {</a:t>
            </a:r>
          </a:p>
          <a:p>
            <a:pPr marL="0" indent="0">
              <a:buFont typeface="Arial" panose="020B0604020202020204" pitchFamily="34" charset="0"/>
              <a:buNone/>
            </a:pPr>
            <a:r>
              <a:rPr lang="en-US" sz="1800" dirty="0">
                <a:latin typeface="Rubik" panose="020B0604020202020204" charset="-79"/>
                <a:cs typeface="Rubik" panose="020B0604020202020204" charset="-79"/>
              </a:rPr>
              <a:t>        this.name = name;</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dirty="0" err="1">
                <a:latin typeface="Rubik" panose="020B0604020202020204" charset="-79"/>
                <a:cs typeface="Rubik" panose="020B0604020202020204" charset="-79"/>
              </a:rPr>
              <a:t>this.age</a:t>
            </a:r>
            <a:r>
              <a:rPr lang="en-US" sz="1800" dirty="0">
                <a:latin typeface="Rubik" panose="020B0604020202020204" charset="-79"/>
                <a:cs typeface="Rubik" panose="020B0604020202020204" charset="-79"/>
              </a:rPr>
              <a:t> = age;</a:t>
            </a:r>
          </a:p>
          <a:p>
            <a:pPr marL="0" indent="0">
              <a:buFont typeface="Arial" panose="020B0604020202020204" pitchFamily="34" charset="0"/>
              <a:buNone/>
            </a:pPr>
            <a:r>
              <a:rPr lang="en-US" sz="1800" dirty="0">
                <a:latin typeface="Rubik" panose="020B0604020202020204" charset="-79"/>
                <a:cs typeface="Rubik" panose="020B0604020202020204" charset="-79"/>
              </a:rPr>
              <a:t>    }</a:t>
            </a: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   public double </a:t>
            </a:r>
            <a:r>
              <a:rPr lang="en-US" sz="1800" dirty="0" err="1">
                <a:latin typeface="Rubik" panose="020B0604020202020204" charset="-79"/>
                <a:cs typeface="Rubik" panose="020B0604020202020204" charset="-79"/>
              </a:rPr>
              <a:t>estimateHeight</a:t>
            </a:r>
            <a:r>
              <a:rPr lang="en-US" sz="1800" dirty="0">
                <a:latin typeface="Rubik" panose="020B0604020202020204" charset="-79"/>
                <a:cs typeface="Rubik" panose="020B0604020202020204" charset="-79"/>
              </a:rPr>
              <a:t>() {</a:t>
            </a:r>
          </a:p>
          <a:p>
            <a:pPr marL="0" indent="0">
              <a:buFont typeface="Arial" panose="020B0604020202020204" pitchFamily="34" charset="0"/>
              <a:buNone/>
            </a:pPr>
            <a:r>
              <a:rPr lang="en-US" sz="1800" dirty="0">
                <a:latin typeface="Rubik" panose="020B0604020202020204" charset="-79"/>
                <a:cs typeface="Rubik" panose="020B0604020202020204" charset="-79"/>
              </a:rPr>
              <a:t>       return </a:t>
            </a:r>
            <a:r>
              <a:rPr lang="en-US" sz="1800" dirty="0" err="1">
                <a:latin typeface="Rubik" panose="020B0604020202020204" charset="-79"/>
                <a:cs typeface="Rubik" panose="020B0604020202020204" charset="-79"/>
              </a:rPr>
              <a:t>this.age</a:t>
            </a:r>
            <a:r>
              <a:rPr lang="en-US" sz="1800" dirty="0">
                <a:latin typeface="Rubik" panose="020B0604020202020204" charset="-79"/>
                <a:cs typeface="Rubik" panose="020B0604020202020204" charset="-79"/>
              </a:rPr>
              <a:t> * 0.2;</a:t>
            </a:r>
          </a:p>
          <a:p>
            <a:pPr marL="0" indent="0">
              <a:buFont typeface="Arial" panose="020B0604020202020204" pitchFamily="34" charset="0"/>
              <a:buNone/>
            </a:pPr>
            <a:r>
              <a:rPr lang="en-US" sz="1800" dirty="0">
                <a:latin typeface="Rubik" panose="020B0604020202020204" charset="-79"/>
                <a:cs typeface="Rubik" panose="020B0604020202020204" charset="-79"/>
              </a:rPr>
              <a:t>   }</a:t>
            </a:r>
          </a:p>
          <a:p>
            <a:pPr marL="0" indent="0">
              <a:buFont typeface="Arial" panose="020B0604020202020204" pitchFamily="34" charset="0"/>
              <a:buNone/>
            </a:pPr>
            <a:r>
              <a:rPr lang="en-US" sz="1800" dirty="0">
                <a:latin typeface="Rubik" panose="020B0604020202020204" charset="-79"/>
                <a:cs typeface="Rubik" panose="020B0604020202020204" charset="-79"/>
              </a:rPr>
              <a:t>}</a:t>
            </a:r>
          </a:p>
        </p:txBody>
      </p:sp>
      <p:sp>
        <p:nvSpPr>
          <p:cNvPr id="6" name="TextBox 5">
            <a:extLst>
              <a:ext uri="{FF2B5EF4-FFF2-40B4-BE49-F238E27FC236}">
                <a16:creationId xmlns:a16="http://schemas.microsoft.com/office/drawing/2014/main" id="{1E78C500-C585-5E62-9C9B-83480DD3DB76}"/>
              </a:ext>
            </a:extLst>
          </p:cNvPr>
          <p:cNvSpPr txBox="1"/>
          <p:nvPr/>
        </p:nvSpPr>
        <p:spPr>
          <a:xfrm>
            <a:off x="615328" y="1752607"/>
            <a:ext cx="228061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Properties</a:t>
            </a:r>
          </a:p>
        </p:txBody>
      </p:sp>
      <p:sp>
        <p:nvSpPr>
          <p:cNvPr id="9" name="TextBox 8">
            <a:extLst>
              <a:ext uri="{FF2B5EF4-FFF2-40B4-BE49-F238E27FC236}">
                <a16:creationId xmlns:a16="http://schemas.microsoft.com/office/drawing/2014/main" id="{E1D7ABE8-CFD3-D074-D8C0-F6B6A359E204}"/>
              </a:ext>
            </a:extLst>
          </p:cNvPr>
          <p:cNvSpPr txBox="1"/>
          <p:nvPr/>
        </p:nvSpPr>
        <p:spPr>
          <a:xfrm>
            <a:off x="615328" y="2707576"/>
            <a:ext cx="228061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Contractor</a:t>
            </a:r>
          </a:p>
        </p:txBody>
      </p:sp>
      <p:sp>
        <p:nvSpPr>
          <p:cNvPr id="10" name="TextBox 9">
            <a:extLst>
              <a:ext uri="{FF2B5EF4-FFF2-40B4-BE49-F238E27FC236}">
                <a16:creationId xmlns:a16="http://schemas.microsoft.com/office/drawing/2014/main" id="{2FEB5E2E-FD84-27F3-5B99-4CBB243D5005}"/>
              </a:ext>
            </a:extLst>
          </p:cNvPr>
          <p:cNvSpPr txBox="1"/>
          <p:nvPr/>
        </p:nvSpPr>
        <p:spPr>
          <a:xfrm>
            <a:off x="615328" y="4022075"/>
            <a:ext cx="228061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Functions</a:t>
            </a:r>
          </a:p>
        </p:txBody>
      </p:sp>
      <p:sp>
        <p:nvSpPr>
          <p:cNvPr id="11" name="Left Brace 10">
            <a:extLst>
              <a:ext uri="{FF2B5EF4-FFF2-40B4-BE49-F238E27FC236}">
                <a16:creationId xmlns:a16="http://schemas.microsoft.com/office/drawing/2014/main" id="{90313FED-E788-E5BF-3DF1-AE6C31F9F924}"/>
              </a:ext>
            </a:extLst>
          </p:cNvPr>
          <p:cNvSpPr/>
          <p:nvPr/>
        </p:nvSpPr>
        <p:spPr>
          <a:xfrm>
            <a:off x="2956096" y="1668191"/>
            <a:ext cx="138112" cy="538163"/>
          </a:xfrm>
          <a:prstGeom prst="leftBrace">
            <a:avLst/>
          </a:prstGeom>
          <a:ln w="57150"/>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6F79D5E5-820E-1170-358A-4CDDE8DD4903}"/>
              </a:ext>
            </a:extLst>
          </p:cNvPr>
          <p:cNvSpPr/>
          <p:nvPr/>
        </p:nvSpPr>
        <p:spPr>
          <a:xfrm>
            <a:off x="2956096" y="2496866"/>
            <a:ext cx="138112" cy="1060722"/>
          </a:xfrm>
          <a:prstGeom prst="leftBrace">
            <a:avLst/>
          </a:prstGeom>
          <a:ln w="57150">
            <a:solidFill>
              <a:schemeClr val="accent2">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0A4829AA-1FEA-20F9-7CCB-3A8F0A8C12AB}"/>
              </a:ext>
            </a:extLst>
          </p:cNvPr>
          <p:cNvSpPr/>
          <p:nvPr/>
        </p:nvSpPr>
        <p:spPr>
          <a:xfrm>
            <a:off x="2956096" y="3845354"/>
            <a:ext cx="138112" cy="707596"/>
          </a:xfrm>
          <a:prstGeom prst="leftBrace">
            <a:avLst/>
          </a:prstGeom>
          <a:ln w="57150">
            <a:solidFill>
              <a:schemeClr val="tx2">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4B45DA8F-516D-D770-E207-C785AD63923A}"/>
              </a:ext>
            </a:extLst>
          </p:cNvPr>
          <p:cNvPicPr>
            <a:picLocks noChangeAspect="1"/>
          </p:cNvPicPr>
          <p:nvPr/>
        </p:nvPicPr>
        <p:blipFill>
          <a:blip r:embed="rId3"/>
          <a:stretch>
            <a:fillRect/>
          </a:stretch>
        </p:blipFill>
        <p:spPr>
          <a:xfrm>
            <a:off x="8281988" y="4281488"/>
            <a:ext cx="862012" cy="862012"/>
          </a:xfrm>
          <a:prstGeom prst="rect">
            <a:avLst/>
          </a:prstGeom>
        </p:spPr>
      </p:pic>
    </p:spTree>
    <p:extLst>
      <p:ext uri="{BB962C8B-B14F-4D97-AF65-F5344CB8AC3E}">
        <p14:creationId xmlns:p14="http://schemas.microsoft.com/office/powerpoint/2010/main" val="2464743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Inherit a Class</a:t>
            </a:r>
            <a:endParaRPr lang="he-IL" sz="3000" b="1" i="0" u="none" strike="noStrike" cap="none" dirty="0">
              <a:solidFill>
                <a:srgbClr val="FFFFFF"/>
              </a:solidFill>
              <a:latin typeface="Rubik"/>
              <a:ea typeface="Rubik"/>
              <a:cs typeface="Rubik"/>
              <a:sym typeface="Rubik"/>
            </a:endParaRPr>
          </a:p>
        </p:txBody>
      </p:sp>
      <p:sp>
        <p:nvSpPr>
          <p:cNvPr id="3" name="TextBox 2">
            <a:extLst>
              <a:ext uri="{FF2B5EF4-FFF2-40B4-BE49-F238E27FC236}">
                <a16:creationId xmlns:a16="http://schemas.microsoft.com/office/drawing/2014/main" id="{3C4A95F9-D0A1-EE8C-0EE7-A42B97E51C94}"/>
              </a:ext>
            </a:extLst>
          </p:cNvPr>
          <p:cNvSpPr txBox="1"/>
          <p:nvPr/>
        </p:nvSpPr>
        <p:spPr>
          <a:xfrm>
            <a:off x="3025153" y="1477183"/>
            <a:ext cx="5838200" cy="2585323"/>
          </a:xfrm>
          <a:prstGeom prst="rect">
            <a:avLst/>
          </a:prstGeom>
          <a:noFill/>
        </p:spPr>
        <p:txBody>
          <a:bodyPr wrap="square">
            <a:spAutoFit/>
          </a:bodyPr>
          <a:lstStyle/>
          <a:p>
            <a:pPr marL="0" indent="0">
              <a:buFont typeface="Arial" panose="020B0604020202020204" pitchFamily="34" charset="0"/>
              <a:buNone/>
            </a:pPr>
            <a:r>
              <a:rPr lang="en-US" sz="1800" dirty="0">
                <a:latin typeface="Rubik" panose="020B0604020202020204" charset="-79"/>
                <a:cs typeface="Rubik" panose="020B0604020202020204" charset="-79"/>
              </a:rPr>
              <a:t>public class </a:t>
            </a:r>
            <a:r>
              <a:rPr lang="en-US" sz="1800" b="1" dirty="0" err="1">
                <a:latin typeface="Rubik" panose="020B0604020202020204" charset="-79"/>
                <a:cs typeface="Rubik" panose="020B0604020202020204" charset="-79"/>
              </a:rPr>
              <a:t>ClassName</a:t>
            </a:r>
            <a:r>
              <a:rPr lang="en-US" sz="1800" b="1" dirty="0">
                <a:latin typeface="Rubik" panose="020B0604020202020204" charset="-79"/>
                <a:cs typeface="Rubik" panose="020B0604020202020204" charset="-79"/>
              </a:rPr>
              <a:t> </a:t>
            </a:r>
            <a:r>
              <a:rPr lang="en-US" sz="1800" dirty="0">
                <a:latin typeface="Rubik" panose="020B0604020202020204" charset="-79"/>
                <a:cs typeface="Rubik" panose="020B0604020202020204" charset="-79"/>
              </a:rPr>
              <a:t>extends </a:t>
            </a:r>
            <a:r>
              <a:rPr lang="en-US" sz="1800" b="1" dirty="0" err="1">
                <a:latin typeface="Rubik" panose="020B0604020202020204" charset="-79"/>
                <a:cs typeface="Rubik" panose="020B0604020202020204" charset="-79"/>
              </a:rPr>
              <a:t>ParentClass</a:t>
            </a:r>
            <a:endParaRPr lang="en-US" sz="1800" b="1"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a:latin typeface="Rubik" panose="020B0604020202020204" charset="-79"/>
                <a:cs typeface="Rubik" panose="020B0604020202020204" charset="-79"/>
              </a:rPr>
              <a:t>     </a:t>
            </a:r>
            <a:r>
              <a:rPr lang="en-US" sz="1800" b="1">
                <a:latin typeface="Rubik" panose="020B0604020202020204" charset="-79"/>
                <a:cs typeface="Rubik" panose="020B0604020202020204" charset="-79"/>
              </a:rPr>
              <a:t>private</a:t>
            </a:r>
            <a:r>
              <a:rPr lang="en-US" sz="1800">
                <a:latin typeface="Rubik" panose="020B0604020202020204" charset="-79"/>
                <a:cs typeface="Rubik" panose="020B0604020202020204" charset="-79"/>
              </a:rPr>
              <a:t> </a:t>
            </a:r>
            <a:r>
              <a:rPr lang="en-US" sz="1800" dirty="0">
                <a:latin typeface="Rubik" panose="020B0604020202020204" charset="-79"/>
                <a:cs typeface="Rubik" panose="020B0604020202020204" charset="-79"/>
              </a:rPr>
              <a:t>int weight;</a:t>
            </a: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    public </a:t>
            </a:r>
            <a:r>
              <a:rPr lang="en-US" sz="1800" b="1" dirty="0" err="1">
                <a:latin typeface="Rubik" panose="020B0604020202020204" charset="-79"/>
                <a:cs typeface="Rubik" panose="020B0604020202020204" charset="-79"/>
              </a:rPr>
              <a:t>ClassName</a:t>
            </a:r>
            <a:r>
              <a:rPr lang="en-US" sz="1800" dirty="0">
                <a:latin typeface="Rubik" panose="020B0604020202020204" charset="-79"/>
                <a:cs typeface="Rubik" panose="020B0604020202020204" charset="-79"/>
              </a:rPr>
              <a:t>(int name, int age, int weight) {</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b="1" i="1" dirty="0">
                <a:latin typeface="Rubik" panose="020B0604020202020204" charset="-79"/>
                <a:cs typeface="Rubik" panose="020B0604020202020204" charset="-79"/>
              </a:rPr>
              <a:t>super(name, age)</a:t>
            </a:r>
            <a:r>
              <a:rPr lang="en-US" sz="1800" b="1"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dirty="0" err="1">
                <a:latin typeface="Rubik" panose="020B0604020202020204" charset="-79"/>
                <a:cs typeface="Rubik" panose="020B0604020202020204" charset="-79"/>
              </a:rPr>
              <a:t>this.weight</a:t>
            </a:r>
            <a:r>
              <a:rPr lang="en-US" sz="1800" dirty="0">
                <a:latin typeface="Rubik" panose="020B0604020202020204" charset="-79"/>
                <a:cs typeface="Rubik" panose="020B0604020202020204" charset="-79"/>
              </a:rPr>
              <a:t> = weight;</a:t>
            </a:r>
          </a:p>
          <a:p>
            <a:pPr marL="0" indent="0">
              <a:buFont typeface="Arial" panose="020B0604020202020204" pitchFamily="34" charset="0"/>
              <a:buNone/>
            </a:pPr>
            <a:r>
              <a:rPr lang="en-US" sz="1800" dirty="0">
                <a:latin typeface="Rubik" panose="020B0604020202020204" charset="-79"/>
                <a:cs typeface="Rubik" panose="020B0604020202020204" charset="-79"/>
              </a:rPr>
              <a:t>    }</a:t>
            </a:r>
            <a:endParaRPr lang="he-IL"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a:t>
            </a:r>
          </a:p>
        </p:txBody>
      </p:sp>
      <p:sp>
        <p:nvSpPr>
          <p:cNvPr id="6" name="TextBox 5">
            <a:extLst>
              <a:ext uri="{FF2B5EF4-FFF2-40B4-BE49-F238E27FC236}">
                <a16:creationId xmlns:a16="http://schemas.microsoft.com/office/drawing/2014/main" id="{1E78C500-C585-5E62-9C9B-83480DD3DB76}"/>
              </a:ext>
            </a:extLst>
          </p:cNvPr>
          <p:cNvSpPr txBox="1"/>
          <p:nvPr/>
        </p:nvSpPr>
        <p:spPr>
          <a:xfrm>
            <a:off x="287564" y="2091332"/>
            <a:ext cx="263400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New unique Properties</a:t>
            </a:r>
          </a:p>
        </p:txBody>
      </p:sp>
      <p:sp>
        <p:nvSpPr>
          <p:cNvPr id="9" name="TextBox 8">
            <a:extLst>
              <a:ext uri="{FF2B5EF4-FFF2-40B4-BE49-F238E27FC236}">
                <a16:creationId xmlns:a16="http://schemas.microsoft.com/office/drawing/2014/main" id="{E1D7ABE8-CFD3-D074-D8C0-F6B6A359E204}"/>
              </a:ext>
            </a:extLst>
          </p:cNvPr>
          <p:cNvSpPr txBox="1"/>
          <p:nvPr/>
        </p:nvSpPr>
        <p:spPr>
          <a:xfrm>
            <a:off x="640954" y="3037731"/>
            <a:ext cx="228061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Constructor</a:t>
            </a:r>
          </a:p>
        </p:txBody>
      </p:sp>
      <p:sp>
        <p:nvSpPr>
          <p:cNvPr id="11" name="Left Brace 10">
            <a:extLst>
              <a:ext uri="{FF2B5EF4-FFF2-40B4-BE49-F238E27FC236}">
                <a16:creationId xmlns:a16="http://schemas.microsoft.com/office/drawing/2014/main" id="{90313FED-E788-E5BF-3DF1-AE6C31F9F924}"/>
              </a:ext>
            </a:extLst>
          </p:cNvPr>
          <p:cNvSpPr/>
          <p:nvPr/>
        </p:nvSpPr>
        <p:spPr>
          <a:xfrm>
            <a:off x="2956096" y="2155037"/>
            <a:ext cx="138112" cy="241922"/>
          </a:xfrm>
          <a:prstGeom prst="leftBrace">
            <a:avLst/>
          </a:prstGeom>
          <a:ln w="57150"/>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6F79D5E5-820E-1170-358A-4CDDE8DD4903}"/>
              </a:ext>
            </a:extLst>
          </p:cNvPr>
          <p:cNvSpPr/>
          <p:nvPr/>
        </p:nvSpPr>
        <p:spPr>
          <a:xfrm>
            <a:off x="2956096" y="2722992"/>
            <a:ext cx="138112" cy="998811"/>
          </a:xfrm>
          <a:prstGeom prst="leftBrace">
            <a:avLst>
              <a:gd name="adj1" fmla="val 0"/>
              <a:gd name="adj2" fmla="val 50000"/>
            </a:avLst>
          </a:prstGeom>
          <a:ln w="57150">
            <a:solidFill>
              <a:schemeClr val="accent2">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pic>
        <p:nvPicPr>
          <p:cNvPr id="7" name="Picture 6">
            <a:extLst>
              <a:ext uri="{FF2B5EF4-FFF2-40B4-BE49-F238E27FC236}">
                <a16:creationId xmlns:a16="http://schemas.microsoft.com/office/drawing/2014/main" id="{519A5B2A-CC9A-8BEE-092F-AEB377B475A8}"/>
              </a:ext>
            </a:extLst>
          </p:cNvPr>
          <p:cNvPicPr>
            <a:picLocks noChangeAspect="1"/>
          </p:cNvPicPr>
          <p:nvPr/>
        </p:nvPicPr>
        <p:blipFill>
          <a:blip r:embed="rId3"/>
          <a:stretch>
            <a:fillRect/>
          </a:stretch>
        </p:blipFill>
        <p:spPr>
          <a:xfrm>
            <a:off x="8281988" y="4281488"/>
            <a:ext cx="862012" cy="862012"/>
          </a:xfrm>
          <a:prstGeom prst="rect">
            <a:avLst/>
          </a:prstGeom>
        </p:spPr>
      </p:pic>
    </p:spTree>
    <p:extLst>
      <p:ext uri="{BB962C8B-B14F-4D97-AF65-F5344CB8AC3E}">
        <p14:creationId xmlns:p14="http://schemas.microsoft.com/office/powerpoint/2010/main" val="3115844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AC65BCE-3792-D6C8-66ED-FD741DD6BD7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97399E3-D407-5392-6313-809EA566DF74}"/>
              </a:ext>
            </a:extLst>
          </p:cNvPr>
          <p:cNvGrpSpPr/>
          <p:nvPr/>
        </p:nvGrpSpPr>
        <p:grpSpPr>
          <a:xfrm>
            <a:off x="0" y="160915"/>
            <a:ext cx="9147753" cy="636723"/>
            <a:chOff x="0" y="160915"/>
            <a:chExt cx="9147753" cy="636723"/>
          </a:xfrm>
        </p:grpSpPr>
        <p:sp>
          <p:nvSpPr>
            <p:cNvPr id="110" name="Google Shape;110;p2">
              <a:extLst>
                <a:ext uri="{FF2B5EF4-FFF2-40B4-BE49-F238E27FC236}">
                  <a16:creationId xmlns:a16="http://schemas.microsoft.com/office/drawing/2014/main" id="{C2020AA0-13B6-0DEF-31FC-981AEDBF0FC9}"/>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E84F74A6-DA23-05F6-A58D-1F0503B95608}"/>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EF3576D5-EE90-140E-0B9B-E69CFFBA128C}"/>
                </a:ext>
              </a:extLst>
            </p:cNvPr>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2F657860-E8FB-5B42-FF3E-A3986CE1782C}"/>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C202C601-EB76-DD3F-76C1-A92BCB4E15D9}"/>
              </a:ext>
            </a:extLst>
          </p:cNvPr>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i="0" u="none" strike="noStrike" cap="none" dirty="0">
                <a:solidFill>
                  <a:srgbClr val="FFFFFF"/>
                </a:solidFill>
                <a:latin typeface="Rubik"/>
                <a:ea typeface="Rubik"/>
                <a:cs typeface="Rubik"/>
                <a:sym typeface="Rubik"/>
              </a:rPr>
              <a:t>Public – </a:t>
            </a:r>
            <a:r>
              <a:rPr lang="en-US" sz="3000" b="1" dirty="0">
                <a:solidFill>
                  <a:srgbClr val="FFFFFF"/>
                </a:solidFill>
                <a:latin typeface="Rubik"/>
                <a:ea typeface="Rubik"/>
                <a:cs typeface="Rubik"/>
                <a:sym typeface="Rubik"/>
              </a:rPr>
              <a:t>Protected - Private</a:t>
            </a:r>
            <a:endParaRPr lang="he-IL" sz="3000" b="1" i="0" u="none" strike="noStrike" cap="none" dirty="0">
              <a:solidFill>
                <a:srgbClr val="FFFFFF"/>
              </a:solidFill>
              <a:latin typeface="Rubik"/>
              <a:ea typeface="Rubik"/>
              <a:cs typeface="Rubik"/>
              <a:sym typeface="Rubik"/>
            </a:endParaRPr>
          </a:p>
        </p:txBody>
      </p:sp>
      <p:sp>
        <p:nvSpPr>
          <p:cNvPr id="3" name="TextBox 2">
            <a:extLst>
              <a:ext uri="{FF2B5EF4-FFF2-40B4-BE49-F238E27FC236}">
                <a16:creationId xmlns:a16="http://schemas.microsoft.com/office/drawing/2014/main" id="{9C1DDAD9-7E46-179F-4F68-BA9505278C44}"/>
              </a:ext>
            </a:extLst>
          </p:cNvPr>
          <p:cNvSpPr txBox="1"/>
          <p:nvPr/>
        </p:nvSpPr>
        <p:spPr>
          <a:xfrm>
            <a:off x="295835" y="1008467"/>
            <a:ext cx="8567518" cy="3693319"/>
          </a:xfrm>
          <a:prstGeom prst="rect">
            <a:avLst/>
          </a:prstGeom>
          <a:noFill/>
        </p:spPr>
        <p:txBody>
          <a:bodyPr wrap="square">
            <a:spAutoFit/>
          </a:bodyPr>
          <a:lstStyle/>
          <a:p>
            <a:pPr marL="0" indent="0" algn="l">
              <a:buFont typeface="Arial" panose="020B0604020202020204" pitchFamily="34" charset="0"/>
              <a:buNone/>
            </a:pPr>
            <a:r>
              <a:rPr lang="en-US" sz="1800" dirty="0">
                <a:latin typeface="Rubik" panose="020B0604020202020204" charset="-79"/>
                <a:cs typeface="Rubik" panose="020B0604020202020204" charset="-79"/>
              </a:rPr>
              <a:t>In Java, we use access modifiers to control the visibility and accessibility of class properties (variables) and methods (functions). The three main access modifiers are:</a:t>
            </a:r>
          </a:p>
          <a:p>
            <a:pPr marL="0" indent="0" algn="l">
              <a:buFont typeface="Arial" panose="020B0604020202020204" pitchFamily="34" charset="0"/>
              <a:buNone/>
            </a:pPr>
            <a:endParaRPr lang="en-US" sz="1800" dirty="0">
              <a:latin typeface="Rubik" panose="020B0604020202020204" charset="-79"/>
              <a:cs typeface="Rubik" panose="020B0604020202020204" charset="-79"/>
            </a:endParaRPr>
          </a:p>
          <a:p>
            <a:pPr marL="342900" indent="-342900" algn="l">
              <a:buFont typeface="Arial" panose="020B0604020202020204" pitchFamily="34" charset="0"/>
              <a:buAutoNum type="arabicPeriod"/>
            </a:pPr>
            <a:r>
              <a:rPr lang="en-US" sz="1800" dirty="0">
                <a:latin typeface="Rubik" panose="020B0604020202020204" charset="-79"/>
                <a:cs typeface="Rubik" panose="020B0604020202020204" charset="-79"/>
              </a:rPr>
              <a:t>Public - Members defined as </a:t>
            </a:r>
            <a:r>
              <a:rPr lang="en-US" sz="1800" b="1" i="1" dirty="0">
                <a:latin typeface="Rubik" panose="020B0604020202020204" charset="-79"/>
                <a:cs typeface="Rubik" panose="020B0604020202020204" charset="-79"/>
              </a:rPr>
              <a:t>public</a:t>
            </a:r>
            <a:r>
              <a:rPr lang="en-US" sz="1800" dirty="0">
                <a:latin typeface="Rubik" panose="020B0604020202020204" charset="-79"/>
                <a:cs typeface="Rubik" panose="020B0604020202020204" charset="-79"/>
              </a:rPr>
              <a:t> are accessible (read &amp; write) from anywhere in the program, including classes in other packages.</a:t>
            </a:r>
          </a:p>
          <a:p>
            <a:pPr marL="342900" indent="-342900" algn="l">
              <a:buFont typeface="Arial" panose="020B0604020202020204" pitchFamily="34" charset="0"/>
              <a:buAutoNum type="arabicPeriod"/>
            </a:pPr>
            <a:endParaRPr lang="en-US" sz="1800" dirty="0">
              <a:latin typeface="Rubik" panose="020B0604020202020204" charset="-79"/>
              <a:cs typeface="Rubik" panose="020B0604020202020204" charset="-79"/>
            </a:endParaRPr>
          </a:p>
          <a:p>
            <a:pPr marL="342900" indent="-342900" algn="l">
              <a:buFont typeface="Arial" panose="020B0604020202020204" pitchFamily="34" charset="0"/>
              <a:buAutoNum type="arabicPeriod"/>
            </a:pPr>
            <a:r>
              <a:rPr lang="en-US" sz="1800" dirty="0">
                <a:latin typeface="Rubik" panose="020B0604020202020204" charset="-79"/>
                <a:cs typeface="Rubik" panose="020B0604020202020204" charset="-79"/>
              </a:rPr>
              <a:t>Protected – Members defined as </a:t>
            </a:r>
            <a:r>
              <a:rPr lang="en-US" sz="1800" b="1" i="1" dirty="0">
                <a:latin typeface="Rubik" panose="020B0604020202020204" charset="-79"/>
                <a:cs typeface="Rubik" panose="020B0604020202020204" charset="-79"/>
              </a:rPr>
              <a:t>protected</a:t>
            </a:r>
            <a:r>
              <a:rPr lang="en-US" sz="1800" dirty="0">
                <a:latin typeface="Rubik" panose="020B0604020202020204" charset="-79"/>
                <a:cs typeface="Rubik" panose="020B0604020202020204" charset="-79"/>
              </a:rPr>
              <a:t> are accessible only within the same class and class that inherit it.</a:t>
            </a:r>
          </a:p>
          <a:p>
            <a:pPr marL="342900" indent="-342900" algn="l">
              <a:buFont typeface="Arial" panose="020B0604020202020204" pitchFamily="34" charset="0"/>
              <a:buAutoNum type="arabicPeriod"/>
            </a:pPr>
            <a:endParaRPr lang="en-US" sz="1800" dirty="0">
              <a:latin typeface="Rubik" panose="020B0604020202020204" charset="-79"/>
              <a:cs typeface="Rubik" panose="020B0604020202020204" charset="-79"/>
            </a:endParaRPr>
          </a:p>
          <a:p>
            <a:pPr marL="342900" indent="-342900" algn="l">
              <a:buFont typeface="Arial" panose="020B0604020202020204" pitchFamily="34" charset="0"/>
              <a:buAutoNum type="arabicPeriod"/>
            </a:pPr>
            <a:r>
              <a:rPr lang="en-US" sz="1800" dirty="0">
                <a:latin typeface="Rubik" panose="020B0604020202020204" charset="-79"/>
                <a:cs typeface="Rubik" panose="020B0604020202020204" charset="-79"/>
              </a:rPr>
              <a:t>Private – Members defined as </a:t>
            </a:r>
            <a:r>
              <a:rPr lang="en-US" sz="1800" b="1" i="1" dirty="0">
                <a:latin typeface="Rubik" panose="020B0604020202020204" charset="-79"/>
                <a:cs typeface="Rubik" panose="020B0604020202020204" charset="-79"/>
              </a:rPr>
              <a:t>private </a:t>
            </a:r>
            <a:r>
              <a:rPr lang="en-US" sz="1800" dirty="0">
                <a:latin typeface="Rubik" panose="020B0604020202020204" charset="-79"/>
                <a:cs typeface="Rubik" panose="020B0604020202020204" charset="-79"/>
              </a:rPr>
              <a:t>are accessible only within the same class.</a:t>
            </a:r>
            <a:endParaRPr lang="en-US" sz="1800" b="1" i="1" dirty="0">
              <a:latin typeface="Rubik" panose="020B0604020202020204" charset="-79"/>
              <a:cs typeface="Rubik" panose="020B0604020202020204" charset="-79"/>
            </a:endParaRPr>
          </a:p>
          <a:p>
            <a:pPr algn="l"/>
            <a:endParaRPr lang="en-US" sz="1800" dirty="0">
              <a:latin typeface="Rubik" panose="020B0604020202020204" charset="-79"/>
              <a:cs typeface="Rubik" panose="020B0604020202020204" charset="-79"/>
            </a:endParaRPr>
          </a:p>
        </p:txBody>
      </p:sp>
      <p:pic>
        <p:nvPicPr>
          <p:cNvPr id="14" name="Picture 13">
            <a:extLst>
              <a:ext uri="{FF2B5EF4-FFF2-40B4-BE49-F238E27FC236}">
                <a16:creationId xmlns:a16="http://schemas.microsoft.com/office/drawing/2014/main" id="{9CFA87E6-7D6F-E381-E569-5F63DE9ABC5B}"/>
              </a:ext>
            </a:extLst>
          </p:cNvPr>
          <p:cNvPicPr>
            <a:picLocks noChangeAspect="1"/>
          </p:cNvPicPr>
          <p:nvPr/>
        </p:nvPicPr>
        <p:blipFill>
          <a:blip r:embed="rId3"/>
          <a:stretch>
            <a:fillRect/>
          </a:stretch>
        </p:blipFill>
        <p:spPr>
          <a:xfrm>
            <a:off x="8281988" y="4281488"/>
            <a:ext cx="862012" cy="862012"/>
          </a:xfrm>
          <a:prstGeom prst="rect">
            <a:avLst/>
          </a:prstGeom>
        </p:spPr>
      </p:pic>
    </p:spTree>
    <p:extLst>
      <p:ext uri="{BB962C8B-B14F-4D97-AF65-F5344CB8AC3E}">
        <p14:creationId xmlns:p14="http://schemas.microsoft.com/office/powerpoint/2010/main" val="2061282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04" name="Google Shape;104;g9605f3d7aa_0_91"/>
          <p:cNvSpPr txBox="1"/>
          <p:nvPr/>
        </p:nvSpPr>
        <p:spPr>
          <a:xfrm>
            <a:off x="1451985" y="238092"/>
            <a:ext cx="6039794" cy="14763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en-US" sz="7200" b="1" dirty="0">
                <a:solidFill>
                  <a:schemeClr val="bg1"/>
                </a:solidFill>
                <a:latin typeface="Rubik" pitchFamily="2" charset="-79"/>
                <a:cs typeface="Rubik" pitchFamily="2" charset="-79"/>
              </a:rPr>
              <a:t>Practice</a:t>
            </a:r>
          </a:p>
        </p:txBody>
      </p:sp>
      <p:pic>
        <p:nvPicPr>
          <p:cNvPr id="4" name="Picture 3">
            <a:extLst>
              <a:ext uri="{FF2B5EF4-FFF2-40B4-BE49-F238E27FC236}">
                <a16:creationId xmlns:a16="http://schemas.microsoft.com/office/drawing/2014/main" id="{D1C6CAC2-A013-2447-765E-97624FEED202}"/>
              </a:ext>
            </a:extLst>
          </p:cNvPr>
          <p:cNvPicPr>
            <a:picLocks noChangeAspect="1"/>
          </p:cNvPicPr>
          <p:nvPr/>
        </p:nvPicPr>
        <p:blipFill>
          <a:blip r:embed="rId3"/>
          <a:stretch>
            <a:fillRect/>
          </a:stretch>
        </p:blipFill>
        <p:spPr>
          <a:xfrm>
            <a:off x="3262206" y="2411138"/>
            <a:ext cx="2419351" cy="2419351"/>
          </a:xfrm>
          <a:prstGeom prst="rect">
            <a:avLst/>
          </a:prstGeom>
        </p:spPr>
      </p:pic>
    </p:spTree>
    <p:extLst>
      <p:ext uri="{BB962C8B-B14F-4D97-AF65-F5344CB8AC3E}">
        <p14:creationId xmlns:p14="http://schemas.microsoft.com/office/powerpoint/2010/main" val="2917826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109" name="Google Shape;109;p2"/>
          <p:cNvGrpSpPr/>
          <p:nvPr/>
        </p:nvGrpSpPr>
        <p:grpSpPr>
          <a:xfrm>
            <a:off x="0" y="173181"/>
            <a:ext cx="9144000" cy="634823"/>
            <a:chOff x="0" y="123100"/>
            <a:chExt cx="12192000" cy="985750"/>
          </a:xfrm>
        </p:grpSpPr>
        <p:sp>
          <p:nvSpPr>
            <p:cNvPr id="110" name="Google Shape;110;p2"/>
            <p:cNvSpPr/>
            <p:nvPr/>
          </p:nvSpPr>
          <p:spPr>
            <a:xfrm>
              <a:off x="0" y="126050"/>
              <a:ext cx="12192000" cy="982800"/>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0" y="123100"/>
              <a:ext cx="379200" cy="982800"/>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379289" y="123100"/>
              <a:ext cx="379200" cy="982800"/>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758578" y="123100"/>
              <a:ext cx="379200" cy="982800"/>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3163325" y="183538"/>
            <a:ext cx="5716200" cy="614100"/>
          </a:xfrm>
          <a:prstGeom prst="rect">
            <a:avLst/>
          </a:prstGeom>
          <a:noFill/>
          <a:ln>
            <a:noFill/>
          </a:ln>
        </p:spPr>
        <p:txBody>
          <a:bodyPr spcFirstLastPara="1" wrap="square" lIns="68575" tIns="68575" rIns="68575" bIns="68575" anchor="t" anchorCtr="0">
            <a:noAutofit/>
          </a:bodyPr>
          <a:lstStyle/>
          <a:p>
            <a:pPr marL="0" marR="0" lvl="0" indent="0" algn="r" rtl="1">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Animals catalog</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6156641" y="1087934"/>
            <a:ext cx="2722884" cy="3788865"/>
          </a:xfrm>
          <a:prstGeom prst="rect">
            <a:avLst/>
          </a:prstGeom>
          <a:noFill/>
          <a:ln>
            <a:noFill/>
          </a:ln>
        </p:spPr>
        <p:txBody>
          <a:bodyPr spcFirstLastPara="1" wrap="square" lIns="91425" tIns="91425" rIns="91425" bIns="91425" anchor="t" anchorCtr="0">
            <a:noAutofit/>
          </a:bodyPr>
          <a:lstStyle/>
          <a:p>
            <a:pPr lvl="0" algn="r" rtl="1">
              <a:lnSpc>
                <a:spcPct val="115000"/>
              </a:lnSpc>
              <a:spcBef>
                <a:spcPts val="0"/>
              </a:spcBef>
              <a:spcAft>
                <a:spcPts val="0"/>
              </a:spcAft>
            </a:pPr>
            <a:endParaRPr lang="he-IL" sz="2100" dirty="0">
              <a:solidFill>
                <a:schemeClr val="dk1"/>
              </a:solidFill>
              <a:latin typeface="Rubik" panose="020B0604020202020204" charset="-79"/>
              <a:cs typeface="Rubik" panose="020B0604020202020204" charset="-79"/>
            </a:endParaRPr>
          </a:p>
        </p:txBody>
      </p:sp>
      <p:pic>
        <p:nvPicPr>
          <p:cNvPr id="2" name="Picture 1">
            <a:extLst>
              <a:ext uri="{FF2B5EF4-FFF2-40B4-BE49-F238E27FC236}">
                <a16:creationId xmlns:a16="http://schemas.microsoft.com/office/drawing/2014/main" id="{A431B90A-C7C3-5D75-0404-FD77097A5685}"/>
              </a:ext>
            </a:extLst>
          </p:cNvPr>
          <p:cNvPicPr>
            <a:picLocks noChangeAspect="1"/>
          </p:cNvPicPr>
          <p:nvPr/>
        </p:nvPicPr>
        <p:blipFill rotWithShape="1">
          <a:blip r:embed="rId3"/>
          <a:srcRect l="10038" t="10412" r="7462" b="7889"/>
          <a:stretch/>
        </p:blipFill>
        <p:spPr>
          <a:xfrm>
            <a:off x="8408193" y="4414837"/>
            <a:ext cx="735807" cy="728663"/>
          </a:xfrm>
          <a:prstGeom prst="rect">
            <a:avLst/>
          </a:prstGeom>
        </p:spPr>
      </p:pic>
      <p:pic>
        <p:nvPicPr>
          <p:cNvPr id="3" name="Picture 2">
            <a:extLst>
              <a:ext uri="{FF2B5EF4-FFF2-40B4-BE49-F238E27FC236}">
                <a16:creationId xmlns:a16="http://schemas.microsoft.com/office/drawing/2014/main" id="{50DCB561-94E2-CAAE-B948-E71C58205AF9}"/>
              </a:ext>
            </a:extLst>
          </p:cNvPr>
          <p:cNvPicPr>
            <a:picLocks noChangeAspect="1"/>
          </p:cNvPicPr>
          <p:nvPr/>
        </p:nvPicPr>
        <p:blipFill>
          <a:blip r:embed="rId4"/>
          <a:stretch>
            <a:fillRect/>
          </a:stretch>
        </p:blipFill>
        <p:spPr>
          <a:xfrm>
            <a:off x="43087" y="1127283"/>
            <a:ext cx="9057826" cy="3020853"/>
          </a:xfrm>
          <a:prstGeom prst="rect">
            <a:avLst/>
          </a:prstGeom>
        </p:spPr>
      </p:pic>
    </p:spTree>
    <p:extLst>
      <p:ext uri="{BB962C8B-B14F-4D97-AF65-F5344CB8AC3E}">
        <p14:creationId xmlns:p14="http://schemas.microsoft.com/office/powerpoint/2010/main" val="210173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Classes Examples</a:t>
            </a:r>
            <a:endParaRPr lang="he-IL" sz="3000" b="1" i="0" u="none" strike="noStrike" cap="none" dirty="0">
              <a:solidFill>
                <a:srgbClr val="FFFFFF"/>
              </a:solidFill>
              <a:latin typeface="Rubik"/>
              <a:ea typeface="Rubik"/>
              <a:cs typeface="Rubik"/>
              <a:sym typeface="Rubik"/>
            </a:endParaRPr>
          </a:p>
        </p:txBody>
      </p:sp>
      <p:pic>
        <p:nvPicPr>
          <p:cNvPr id="7" name="Picture 6">
            <a:extLst>
              <a:ext uri="{FF2B5EF4-FFF2-40B4-BE49-F238E27FC236}">
                <a16:creationId xmlns:a16="http://schemas.microsoft.com/office/drawing/2014/main" id="{519A5B2A-CC9A-8BEE-092F-AEB377B475A8}"/>
              </a:ext>
            </a:extLst>
          </p:cNvPr>
          <p:cNvPicPr>
            <a:picLocks noChangeAspect="1"/>
          </p:cNvPicPr>
          <p:nvPr/>
        </p:nvPicPr>
        <p:blipFill>
          <a:blip r:embed="rId3"/>
          <a:stretch>
            <a:fillRect/>
          </a:stretch>
        </p:blipFill>
        <p:spPr>
          <a:xfrm>
            <a:off x="8281988" y="4281488"/>
            <a:ext cx="862012" cy="862012"/>
          </a:xfrm>
          <a:prstGeom prst="rect">
            <a:avLst/>
          </a:prstGeom>
        </p:spPr>
      </p:pic>
      <p:sp>
        <p:nvSpPr>
          <p:cNvPr id="2" name="TextBox 1">
            <a:extLst>
              <a:ext uri="{FF2B5EF4-FFF2-40B4-BE49-F238E27FC236}">
                <a16:creationId xmlns:a16="http://schemas.microsoft.com/office/drawing/2014/main" id="{C47852D4-7C02-4548-A8BA-B272CF2E1F9C}"/>
              </a:ext>
            </a:extLst>
          </p:cNvPr>
          <p:cNvSpPr txBox="1"/>
          <p:nvPr/>
        </p:nvSpPr>
        <p:spPr>
          <a:xfrm>
            <a:off x="1235787" y="1337381"/>
            <a:ext cx="3432466" cy="3416320"/>
          </a:xfrm>
          <a:prstGeom prst="rect">
            <a:avLst/>
          </a:prstGeom>
          <a:noFill/>
        </p:spPr>
        <p:txBody>
          <a:bodyPr wrap="square">
            <a:spAutoFit/>
          </a:bodyPr>
          <a:lstStyle/>
          <a:p>
            <a:pPr marL="0" indent="0" algn="ctr">
              <a:buFont typeface="Arial" panose="020B0604020202020204" pitchFamily="34" charset="0"/>
              <a:buNone/>
            </a:pPr>
            <a:r>
              <a:rPr lang="en-US" sz="1800" u="sng" dirty="0">
                <a:latin typeface="Rubik" panose="020B0604020202020204" charset="-79"/>
                <a:cs typeface="Rubik" panose="020B0604020202020204" charset="-79"/>
              </a:rPr>
              <a:t>Animal</a:t>
            </a:r>
          </a:p>
          <a:p>
            <a:pPr marL="0" indent="0" algn="ctr">
              <a:buFont typeface="Arial" panose="020B0604020202020204" pitchFamily="34" charset="0"/>
              <a:buNone/>
            </a:pPr>
            <a:endParaRPr lang="en-US" sz="1800" u="sng"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Properties:</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private name</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private age</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private height</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private static </a:t>
            </a:r>
            <a:r>
              <a:rPr lang="en-US" sz="1800" dirty="0" err="1">
                <a:latin typeface="Rubik" panose="020B0604020202020204" charset="-79"/>
                <a:cs typeface="Rubik" panose="020B0604020202020204" charset="-79"/>
              </a:rPr>
              <a:t>animalsCount</a:t>
            </a:r>
            <a:endParaRPr lang="en-US" sz="1800" dirty="0">
              <a:latin typeface="Rubik" panose="020B0604020202020204" charset="-79"/>
              <a:cs typeface="Rubik" panose="020B0604020202020204" charset="-79"/>
            </a:endParaRP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Functions:</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string </a:t>
            </a:r>
            <a:r>
              <a:rPr lang="en-US" sz="1800" dirty="0" err="1">
                <a:latin typeface="Rubik" panose="020B0604020202020204" charset="-79"/>
                <a:cs typeface="Rubik" panose="020B0604020202020204" charset="-79"/>
              </a:rPr>
              <a:t>getName</a:t>
            </a:r>
            <a:r>
              <a:rPr lang="en-US" sz="1800" dirty="0">
                <a:latin typeface="Rubik" panose="020B0604020202020204" charset="-79"/>
                <a:cs typeface="Rubik" panose="020B0604020202020204" charset="-79"/>
              </a:rPr>
              <a:t>()</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int </a:t>
            </a:r>
            <a:r>
              <a:rPr lang="en-US" sz="1800" dirty="0" err="1">
                <a:latin typeface="Rubik" panose="020B0604020202020204" charset="-79"/>
                <a:cs typeface="Rubik" panose="020B0604020202020204" charset="-79"/>
              </a:rPr>
              <a:t>getAge</a:t>
            </a:r>
            <a:r>
              <a:rPr lang="en-US" sz="1800" dirty="0">
                <a:latin typeface="Rubik" panose="020B0604020202020204" charset="-79"/>
                <a:cs typeface="Rubik" panose="020B0604020202020204" charset="-79"/>
              </a:rPr>
              <a:t>()</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double </a:t>
            </a:r>
            <a:r>
              <a:rPr lang="en-US" sz="1800" dirty="0" err="1">
                <a:latin typeface="Rubik" panose="020B0604020202020204" charset="-79"/>
                <a:cs typeface="Rubik" panose="020B0604020202020204" charset="-79"/>
              </a:rPr>
              <a:t>getHeight</a:t>
            </a:r>
            <a:r>
              <a:rPr lang="en-US" sz="1800" dirty="0">
                <a:latin typeface="Rubik" panose="020B0604020202020204" charset="-79"/>
                <a:cs typeface="Rubik" panose="020B0604020202020204" charset="-79"/>
              </a:rPr>
              <a:t>()</a:t>
            </a:r>
          </a:p>
        </p:txBody>
      </p:sp>
      <p:sp>
        <p:nvSpPr>
          <p:cNvPr id="5" name="TextBox 4">
            <a:extLst>
              <a:ext uri="{FF2B5EF4-FFF2-40B4-BE49-F238E27FC236}">
                <a16:creationId xmlns:a16="http://schemas.microsoft.com/office/drawing/2014/main" id="{22589910-DEA0-AD30-9E11-6D36DA4DD23D}"/>
              </a:ext>
            </a:extLst>
          </p:cNvPr>
          <p:cNvSpPr txBox="1"/>
          <p:nvPr/>
        </p:nvSpPr>
        <p:spPr>
          <a:xfrm>
            <a:off x="5294904" y="1337381"/>
            <a:ext cx="2377768" cy="2031325"/>
          </a:xfrm>
          <a:prstGeom prst="rect">
            <a:avLst/>
          </a:prstGeom>
          <a:noFill/>
        </p:spPr>
        <p:txBody>
          <a:bodyPr wrap="square">
            <a:spAutoFit/>
          </a:bodyPr>
          <a:lstStyle/>
          <a:p>
            <a:pPr marL="0" indent="0" algn="ctr">
              <a:buFont typeface="Arial" panose="020B0604020202020204" pitchFamily="34" charset="0"/>
              <a:buNone/>
            </a:pPr>
            <a:r>
              <a:rPr lang="en-US" sz="1800" u="sng" dirty="0">
                <a:latin typeface="Rubik" panose="020B0604020202020204" charset="-79"/>
                <a:cs typeface="Rubik" panose="020B0604020202020204" charset="-79"/>
              </a:rPr>
              <a:t>Wolf</a:t>
            </a:r>
          </a:p>
          <a:p>
            <a:pPr marL="0" indent="0" algn="ctr">
              <a:buFont typeface="Arial" panose="020B0604020202020204" pitchFamily="34" charset="0"/>
              <a:buNone/>
            </a:pPr>
            <a:endParaRPr lang="en-US" sz="1800" u="sng"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Properties:</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private </a:t>
            </a:r>
            <a:r>
              <a:rPr lang="en-US" sz="1800" dirty="0" err="1">
                <a:latin typeface="Rubik" panose="020B0604020202020204" charset="-79"/>
                <a:cs typeface="Rubik" panose="020B0604020202020204" charset="-79"/>
              </a:rPr>
              <a:t>packSize</a:t>
            </a:r>
            <a:endParaRPr lang="en-US" sz="1800" dirty="0">
              <a:latin typeface="Rubik" panose="020B0604020202020204" charset="-79"/>
              <a:cs typeface="Rubik" panose="020B0604020202020204" charset="-79"/>
            </a:endParaRPr>
          </a:p>
          <a:p>
            <a:pPr marL="0" indent="0">
              <a:buFont typeface="Arial" panose="020B0604020202020204" pitchFamily="34" charset="0"/>
              <a:buNone/>
            </a:pPr>
            <a:endParaRPr lang="en-US"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Functions:</a:t>
            </a:r>
          </a:p>
          <a:p>
            <a:pPr marL="285750" indent="-285750">
              <a:buFont typeface="Arial" panose="020B0604020202020204" pitchFamily="34" charset="0"/>
              <a:buChar char="•"/>
            </a:pPr>
            <a:r>
              <a:rPr lang="en-US" sz="1800" dirty="0">
                <a:latin typeface="Rubik" panose="020B0604020202020204" charset="-79"/>
                <a:cs typeface="Rubik" panose="020B0604020202020204" charset="-79"/>
              </a:rPr>
              <a:t>int </a:t>
            </a:r>
            <a:r>
              <a:rPr lang="en-US" sz="1800" dirty="0" err="1">
                <a:latin typeface="Rubik" panose="020B0604020202020204" charset="-79"/>
                <a:cs typeface="Rubik" panose="020B0604020202020204" charset="-79"/>
              </a:rPr>
              <a:t>getPackSize</a:t>
            </a:r>
            <a:r>
              <a:rPr lang="en-US" sz="1800" dirty="0">
                <a:latin typeface="Rubik" panose="020B0604020202020204" charset="-79"/>
                <a:cs typeface="Rubik" panose="020B0604020202020204" charset="-79"/>
              </a:rPr>
              <a:t>()</a:t>
            </a:r>
          </a:p>
        </p:txBody>
      </p:sp>
    </p:spTree>
    <p:extLst>
      <p:ext uri="{BB962C8B-B14F-4D97-AF65-F5344CB8AC3E}">
        <p14:creationId xmlns:p14="http://schemas.microsoft.com/office/powerpoint/2010/main" val="3856758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269B9FD-33FE-B112-9AFD-8C9BAEFB7C3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97589BA-26FA-7729-C67D-408FE6314EEA}"/>
              </a:ext>
            </a:extLst>
          </p:cNvPr>
          <p:cNvGrpSpPr/>
          <p:nvPr/>
        </p:nvGrpSpPr>
        <p:grpSpPr>
          <a:xfrm>
            <a:off x="0" y="160915"/>
            <a:ext cx="9147753" cy="636723"/>
            <a:chOff x="0" y="160915"/>
            <a:chExt cx="9147753" cy="636723"/>
          </a:xfrm>
        </p:grpSpPr>
        <p:sp>
          <p:nvSpPr>
            <p:cNvPr id="110" name="Google Shape;110;p2">
              <a:extLst>
                <a:ext uri="{FF2B5EF4-FFF2-40B4-BE49-F238E27FC236}">
                  <a16:creationId xmlns:a16="http://schemas.microsoft.com/office/drawing/2014/main" id="{70526797-F4A8-840B-6147-317025C65A12}"/>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EEAC4C66-E095-5070-C8AB-F629DCA8B20B}"/>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A24BDA1D-AB48-ED5F-EFC2-3DBC900DE821}"/>
                </a:ext>
              </a:extLst>
            </p:cNvPr>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69DE71F9-9DA0-EAF3-2374-DFB1DD24145E}"/>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a:extLst>
              <a:ext uri="{FF2B5EF4-FFF2-40B4-BE49-F238E27FC236}">
                <a16:creationId xmlns:a16="http://schemas.microsoft.com/office/drawing/2014/main" id="{3D0C2B68-7D20-6539-6832-C7E13CE3A03C}"/>
              </a:ext>
            </a:extLst>
          </p:cNvPr>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Overrides</a:t>
            </a:r>
            <a:endParaRPr lang="he-IL" sz="3000" b="1" i="0" u="none" strike="noStrike" cap="none" dirty="0">
              <a:solidFill>
                <a:srgbClr val="FFFFFF"/>
              </a:solidFill>
              <a:latin typeface="Rubik"/>
              <a:ea typeface="Rubik"/>
              <a:cs typeface="Rubik"/>
              <a:sym typeface="Rubik"/>
            </a:endParaRPr>
          </a:p>
        </p:txBody>
      </p:sp>
      <p:pic>
        <p:nvPicPr>
          <p:cNvPr id="7" name="Picture 6">
            <a:extLst>
              <a:ext uri="{FF2B5EF4-FFF2-40B4-BE49-F238E27FC236}">
                <a16:creationId xmlns:a16="http://schemas.microsoft.com/office/drawing/2014/main" id="{7EA7FDD6-4901-71A7-15CF-7BD2B143B50A}"/>
              </a:ext>
            </a:extLst>
          </p:cNvPr>
          <p:cNvPicPr>
            <a:picLocks noChangeAspect="1"/>
          </p:cNvPicPr>
          <p:nvPr/>
        </p:nvPicPr>
        <p:blipFill>
          <a:blip r:embed="rId3"/>
          <a:stretch>
            <a:fillRect/>
          </a:stretch>
        </p:blipFill>
        <p:spPr>
          <a:xfrm>
            <a:off x="8281988" y="4281488"/>
            <a:ext cx="862012" cy="862012"/>
          </a:xfrm>
          <a:prstGeom prst="rect">
            <a:avLst/>
          </a:prstGeom>
        </p:spPr>
      </p:pic>
      <p:sp>
        <p:nvSpPr>
          <p:cNvPr id="5" name="TextBox 4">
            <a:extLst>
              <a:ext uri="{FF2B5EF4-FFF2-40B4-BE49-F238E27FC236}">
                <a16:creationId xmlns:a16="http://schemas.microsoft.com/office/drawing/2014/main" id="{33B39DB6-D8D4-0A8F-6388-5E05FC88EA81}"/>
              </a:ext>
            </a:extLst>
          </p:cNvPr>
          <p:cNvSpPr txBox="1"/>
          <p:nvPr/>
        </p:nvSpPr>
        <p:spPr>
          <a:xfrm>
            <a:off x="224852" y="926842"/>
            <a:ext cx="8350348" cy="3785652"/>
          </a:xfrm>
          <a:prstGeom prst="rect">
            <a:avLst/>
          </a:prstGeom>
          <a:noFill/>
        </p:spPr>
        <p:txBody>
          <a:bodyPr wrap="square">
            <a:spAutoFit/>
          </a:bodyPr>
          <a:lstStyle/>
          <a:p>
            <a:pPr marL="0" indent="0">
              <a:buFont typeface="Arial" panose="020B0604020202020204" pitchFamily="34" charset="0"/>
              <a:buNone/>
            </a:pPr>
            <a:r>
              <a:rPr lang="en-US" sz="1600" dirty="0">
                <a:latin typeface="Rubik" panose="020B0604020202020204" charset="-79"/>
                <a:cs typeface="Rubik" panose="020B0604020202020204" charset="-79"/>
              </a:rPr>
              <a:t>In Java, method overriding occurs when a subclass provides a specific implementation for a method already defined in its parent class.</a:t>
            </a:r>
          </a:p>
          <a:p>
            <a:pPr marL="0" indent="0">
              <a:buFont typeface="Arial" panose="020B0604020202020204" pitchFamily="34" charset="0"/>
              <a:buNone/>
            </a:pPr>
            <a:endParaRPr lang="en-US" sz="1600" dirty="0">
              <a:latin typeface="Rubik" panose="020B0604020202020204" charset="-79"/>
              <a:cs typeface="Rubik" panose="020B0604020202020204" charset="-79"/>
            </a:endParaRPr>
          </a:p>
          <a:p>
            <a:pPr marL="0" indent="0">
              <a:buFont typeface="Arial" panose="020B0604020202020204" pitchFamily="34" charset="0"/>
              <a:buNone/>
            </a:pPr>
            <a:r>
              <a:rPr lang="en-US" sz="1600" dirty="0">
                <a:latin typeface="Rubik" panose="020B0604020202020204" charset="-79"/>
                <a:cs typeface="Rubik" panose="020B0604020202020204" charset="-79"/>
              </a:rPr>
              <a:t>The overridden method in the subclass must have the same </a:t>
            </a:r>
            <a:r>
              <a:rPr lang="en-US" sz="1600" b="1" dirty="0">
                <a:latin typeface="Rubik" panose="020B0604020202020204" charset="-79"/>
                <a:cs typeface="Rubik" panose="020B0604020202020204" charset="-79"/>
              </a:rPr>
              <a:t>name</a:t>
            </a:r>
            <a:r>
              <a:rPr lang="en-US" sz="1600" dirty="0">
                <a:latin typeface="Rubik" panose="020B0604020202020204" charset="-79"/>
                <a:cs typeface="Rubik" panose="020B0604020202020204" charset="-79"/>
              </a:rPr>
              <a:t>, return </a:t>
            </a:r>
            <a:r>
              <a:rPr lang="en-US" sz="1600" b="1" dirty="0">
                <a:latin typeface="Rubik" panose="020B0604020202020204" charset="-79"/>
                <a:cs typeface="Rubik" panose="020B0604020202020204" charset="-79"/>
              </a:rPr>
              <a:t>type</a:t>
            </a:r>
            <a:r>
              <a:rPr lang="en-US" sz="1600" dirty="0">
                <a:latin typeface="Rubik" panose="020B0604020202020204" charset="-79"/>
                <a:cs typeface="Rubik" panose="020B0604020202020204" charset="-79"/>
              </a:rPr>
              <a:t>, and </a:t>
            </a:r>
            <a:r>
              <a:rPr lang="en-US" sz="1600" b="1" dirty="0">
                <a:latin typeface="Rubik" panose="020B0604020202020204" charset="-79"/>
                <a:cs typeface="Rubik" panose="020B0604020202020204" charset="-79"/>
              </a:rPr>
              <a:t>parameters</a:t>
            </a:r>
            <a:r>
              <a:rPr lang="en-US" sz="1600" dirty="0">
                <a:latin typeface="Rubik" panose="020B0604020202020204" charset="-79"/>
                <a:cs typeface="Rubik" panose="020B0604020202020204" charset="-79"/>
              </a:rPr>
              <a:t> as the method in the parent class.</a:t>
            </a:r>
          </a:p>
          <a:p>
            <a:pPr marL="0" indent="0">
              <a:buFont typeface="Arial" panose="020B0604020202020204" pitchFamily="34" charset="0"/>
              <a:buNone/>
            </a:pPr>
            <a:endParaRPr lang="en-US" sz="1600" dirty="0">
              <a:latin typeface="Rubik" panose="020B0604020202020204" charset="-79"/>
              <a:cs typeface="Rubik" panose="020B0604020202020204" charset="-79"/>
            </a:endParaRPr>
          </a:p>
          <a:p>
            <a:pPr marL="0" indent="0">
              <a:buFont typeface="Arial" panose="020B0604020202020204" pitchFamily="34" charset="0"/>
              <a:buNone/>
            </a:pPr>
            <a:r>
              <a:rPr lang="en-US" sz="1600" dirty="0">
                <a:latin typeface="Rubik" panose="020B0604020202020204" charset="-79"/>
                <a:cs typeface="Rubik" panose="020B0604020202020204" charset="-79"/>
              </a:rPr>
              <a:t>Overrides are used to modify or extend the behavior of a method for a specific subclass.</a:t>
            </a:r>
          </a:p>
          <a:p>
            <a:pPr marL="0" indent="0">
              <a:buFont typeface="Arial" panose="020B0604020202020204" pitchFamily="34" charset="0"/>
              <a:buNone/>
            </a:pPr>
            <a:endParaRPr lang="en-US" sz="1600" dirty="0">
              <a:latin typeface="Rubik" panose="020B0604020202020204" charset="-79"/>
              <a:cs typeface="Rubik" panose="020B0604020202020204" charset="-79"/>
            </a:endParaRPr>
          </a:p>
          <a:p>
            <a:pPr marL="0" indent="0">
              <a:buFont typeface="Arial" panose="020B0604020202020204" pitchFamily="34" charset="0"/>
              <a:buNone/>
            </a:pPr>
            <a:r>
              <a:rPr lang="en-US" sz="1600" dirty="0">
                <a:latin typeface="Rubik" panose="020B0604020202020204" charset="-79"/>
                <a:cs typeface="Rubik" panose="020B0604020202020204" charset="-79"/>
              </a:rPr>
              <a:t>The </a:t>
            </a:r>
            <a:r>
              <a:rPr lang="en-US" sz="1600" b="1" i="1" dirty="0">
                <a:latin typeface="Rubik" panose="020B0604020202020204" charset="-79"/>
                <a:cs typeface="Rubik" panose="020B0604020202020204" charset="-79"/>
              </a:rPr>
              <a:t>@Override</a:t>
            </a:r>
            <a:r>
              <a:rPr lang="en-US" sz="1600" dirty="0">
                <a:latin typeface="Rubik" panose="020B0604020202020204" charset="-79"/>
                <a:cs typeface="Rubik" panose="020B0604020202020204" charset="-79"/>
              </a:rPr>
              <a:t> annotation indicates that a method is being overridden.</a:t>
            </a:r>
          </a:p>
          <a:p>
            <a:pPr marL="0" indent="0">
              <a:buFont typeface="Arial" panose="020B0604020202020204" pitchFamily="34" charset="0"/>
              <a:buNone/>
            </a:pPr>
            <a:r>
              <a:rPr lang="en-US" sz="1600" dirty="0">
                <a:latin typeface="Rubik" panose="020B0604020202020204" charset="-79"/>
                <a:cs typeface="Rubik" panose="020B0604020202020204" charset="-79"/>
              </a:rPr>
              <a:t>It is optional but recommended because it helps avoid mistakes (e.g., typos in the method name) and improves code readability.</a:t>
            </a:r>
          </a:p>
          <a:p>
            <a:pPr marL="0" indent="0">
              <a:buFont typeface="Arial" panose="020B0604020202020204" pitchFamily="34" charset="0"/>
              <a:buNone/>
            </a:pPr>
            <a:endParaRPr lang="en-US" sz="1600" dirty="0">
              <a:latin typeface="Rubik" panose="020B0604020202020204" charset="-79"/>
              <a:cs typeface="Rubik" panose="020B0604020202020204" charset="-79"/>
            </a:endParaRPr>
          </a:p>
          <a:p>
            <a:pPr marL="0" indent="0">
              <a:buFont typeface="Arial" panose="020B0604020202020204" pitchFamily="34" charset="0"/>
              <a:buNone/>
            </a:pPr>
            <a:r>
              <a:rPr lang="en-US" sz="1600" dirty="0">
                <a:latin typeface="Rubik" panose="020B0604020202020204" charset="-79"/>
                <a:cs typeface="Rubik" panose="020B0604020202020204" charset="-79"/>
              </a:rPr>
              <a:t>The super keyword is used to call the parent class's version of a method or constructor.</a:t>
            </a:r>
          </a:p>
        </p:txBody>
      </p:sp>
    </p:spTree>
    <p:extLst>
      <p:ext uri="{BB962C8B-B14F-4D97-AF65-F5344CB8AC3E}">
        <p14:creationId xmlns:p14="http://schemas.microsoft.com/office/powerpoint/2010/main" val="1330350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4" name="Group 3">
            <a:extLst>
              <a:ext uri="{FF2B5EF4-FFF2-40B4-BE49-F238E27FC236}">
                <a16:creationId xmlns:a16="http://schemas.microsoft.com/office/drawing/2014/main" id="{7A8D3B97-EAEA-C9F6-C2AE-CE7087F2CC5F}"/>
              </a:ext>
            </a:extLst>
          </p:cNvPr>
          <p:cNvGrpSpPr/>
          <p:nvPr/>
        </p:nvGrpSpPr>
        <p:grpSpPr>
          <a:xfrm>
            <a:off x="0" y="160915"/>
            <a:ext cx="9147753" cy="636723"/>
            <a:chOff x="0" y="160915"/>
            <a:chExt cx="9147753" cy="636723"/>
          </a:xfrm>
        </p:grpSpPr>
        <p:sp>
          <p:nvSpPr>
            <p:cNvPr id="110" name="Google Shape;110;p2"/>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1" name="Google Shape;111;p2"/>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2" name="Google Shape;112;p2"/>
            <p:cNvSpPr/>
            <p:nvPr/>
          </p:nvSpPr>
          <p:spPr>
            <a:xfrm>
              <a:off x="8578953" y="160915"/>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13" name="Google Shape;113;p2"/>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437211" y="160915"/>
            <a:ext cx="7995789" cy="614100"/>
          </a:xfrm>
          <a:prstGeom prst="rect">
            <a:avLst/>
          </a:prstGeom>
          <a:noFill/>
          <a:ln>
            <a:noFill/>
          </a:ln>
        </p:spPr>
        <p:txBody>
          <a:bodyPr spcFirstLastPara="1" wrap="square" lIns="68575" tIns="68575" rIns="68575" bIns="68575" anchor="t" anchorCtr="0">
            <a:noAutofit/>
          </a:bodyPr>
          <a:lstStyle/>
          <a:p>
            <a:pPr marL="0" marR="0" lvl="0" indent="0" algn="ctr">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Overrides</a:t>
            </a:r>
            <a:endParaRPr lang="he-IL" sz="3000" b="1" i="0" u="none" strike="noStrike" cap="none" dirty="0">
              <a:solidFill>
                <a:srgbClr val="FFFFFF"/>
              </a:solidFill>
              <a:latin typeface="Rubik"/>
              <a:ea typeface="Rubik"/>
              <a:cs typeface="Rubik"/>
              <a:sym typeface="Rubik"/>
            </a:endParaRPr>
          </a:p>
        </p:txBody>
      </p:sp>
      <p:sp>
        <p:nvSpPr>
          <p:cNvPr id="3" name="TextBox 2">
            <a:extLst>
              <a:ext uri="{FF2B5EF4-FFF2-40B4-BE49-F238E27FC236}">
                <a16:creationId xmlns:a16="http://schemas.microsoft.com/office/drawing/2014/main" id="{3C4A95F9-D0A1-EE8C-0EE7-A42B97E51C94}"/>
              </a:ext>
            </a:extLst>
          </p:cNvPr>
          <p:cNvSpPr txBox="1"/>
          <p:nvPr/>
        </p:nvSpPr>
        <p:spPr>
          <a:xfrm>
            <a:off x="3025153" y="2835176"/>
            <a:ext cx="5838200" cy="2308324"/>
          </a:xfrm>
          <a:prstGeom prst="rect">
            <a:avLst/>
          </a:prstGeom>
          <a:noFill/>
        </p:spPr>
        <p:txBody>
          <a:bodyPr wrap="square">
            <a:spAutoFit/>
          </a:bodyPr>
          <a:lstStyle/>
          <a:p>
            <a:pPr marL="0" indent="0">
              <a:buFont typeface="Arial" panose="020B0604020202020204" pitchFamily="34" charset="0"/>
              <a:buNone/>
            </a:pPr>
            <a:r>
              <a:rPr lang="en-US" sz="1800" dirty="0">
                <a:latin typeface="Rubik" panose="020B0604020202020204" charset="-79"/>
                <a:cs typeface="Rubik" panose="020B0604020202020204" charset="-79"/>
              </a:rPr>
              <a:t>public class </a:t>
            </a:r>
            <a:r>
              <a:rPr lang="en-US" sz="1800" b="1" dirty="0">
                <a:latin typeface="Rubik" panose="020B0604020202020204" charset="-79"/>
                <a:cs typeface="Rubik" panose="020B0604020202020204" charset="-79"/>
              </a:rPr>
              <a:t>Leopard </a:t>
            </a:r>
            <a:r>
              <a:rPr lang="en-US" sz="1800" dirty="0">
                <a:latin typeface="Rubik" panose="020B0604020202020204" charset="-79"/>
                <a:cs typeface="Rubik" panose="020B0604020202020204" charset="-79"/>
              </a:rPr>
              <a:t>extends </a:t>
            </a:r>
            <a:r>
              <a:rPr lang="en-US" sz="1800" b="1" dirty="0">
                <a:latin typeface="Rubik" panose="020B0604020202020204" charset="-79"/>
                <a:cs typeface="Rubik" panose="020B0604020202020204" charset="-79"/>
              </a:rPr>
              <a:t>Mammal</a:t>
            </a: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b="1" dirty="0">
                <a:latin typeface="Rubik" panose="020B0604020202020204" charset="-79"/>
                <a:cs typeface="Rubik" panose="020B0604020202020204" charset="-79"/>
              </a:rPr>
              <a:t>@Override</a:t>
            </a:r>
          </a:p>
          <a:p>
            <a:pPr marL="0" indent="0">
              <a:buFont typeface="Arial" panose="020B0604020202020204" pitchFamily="34" charset="0"/>
              <a:buNone/>
            </a:pPr>
            <a:r>
              <a:rPr lang="en-US" sz="1800" dirty="0">
                <a:latin typeface="Rubik" panose="020B0604020202020204" charset="-79"/>
                <a:cs typeface="Rubik" panose="020B0604020202020204" charset="-79"/>
              </a:rPr>
              <a:t>    public void </a:t>
            </a:r>
            <a:r>
              <a:rPr lang="en-US" sz="1800" b="1" dirty="0" err="1">
                <a:latin typeface="Rubik" panose="020B0604020202020204" charset="-79"/>
                <a:cs typeface="Rubik" panose="020B0604020202020204" charset="-79"/>
              </a:rPr>
              <a:t>animalSound</a:t>
            </a:r>
            <a:r>
              <a:rPr lang="en-US" sz="1800" dirty="0">
                <a:latin typeface="Rubik" panose="020B0604020202020204" charset="-79"/>
                <a:cs typeface="Rubik" panose="020B0604020202020204" charset="-79"/>
              </a:rPr>
              <a:t>() {</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b="1" i="1" dirty="0" err="1">
                <a:latin typeface="Rubik" panose="020B0604020202020204" charset="-79"/>
                <a:cs typeface="Rubik" panose="020B0604020202020204" charset="-79"/>
              </a:rPr>
              <a:t>super.animalSound</a:t>
            </a:r>
            <a:r>
              <a:rPr lang="en-US" sz="1800" b="1" i="1" dirty="0">
                <a:latin typeface="Rubik" panose="020B0604020202020204" charset="-79"/>
                <a:cs typeface="Rubik" panose="020B0604020202020204" charset="-79"/>
              </a:rPr>
              <a:t>()</a:t>
            </a:r>
            <a:r>
              <a:rPr lang="en-US" sz="1800" b="1"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dirty="0" err="1">
                <a:latin typeface="Rubik" panose="020B0604020202020204" charset="-79"/>
                <a:cs typeface="Rubik" panose="020B0604020202020204" charset="-79"/>
              </a:rPr>
              <a:t>System.out.println</a:t>
            </a:r>
            <a:r>
              <a:rPr lang="en-US" sz="1800" dirty="0">
                <a:latin typeface="Rubik" panose="020B0604020202020204" charset="-79"/>
                <a:cs typeface="Rubik" panose="020B0604020202020204" charset="-79"/>
              </a:rPr>
              <a:t>(“Growl”)</a:t>
            </a:r>
          </a:p>
          <a:p>
            <a:pPr marL="0" indent="0">
              <a:buFont typeface="Arial" panose="020B0604020202020204" pitchFamily="34" charset="0"/>
              <a:buNone/>
            </a:pPr>
            <a:r>
              <a:rPr lang="en-US" sz="1800" dirty="0">
                <a:latin typeface="Rubik" panose="020B0604020202020204" charset="-79"/>
                <a:cs typeface="Rubik" panose="020B0604020202020204" charset="-79"/>
              </a:rPr>
              <a:t>    }</a:t>
            </a:r>
            <a:endParaRPr lang="he-IL"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a:t>
            </a:r>
          </a:p>
        </p:txBody>
      </p:sp>
      <p:sp>
        <p:nvSpPr>
          <p:cNvPr id="9" name="TextBox 8">
            <a:extLst>
              <a:ext uri="{FF2B5EF4-FFF2-40B4-BE49-F238E27FC236}">
                <a16:creationId xmlns:a16="http://schemas.microsoft.com/office/drawing/2014/main" id="{E1D7ABE8-CFD3-D074-D8C0-F6B6A359E204}"/>
              </a:ext>
            </a:extLst>
          </p:cNvPr>
          <p:cNvSpPr txBox="1"/>
          <p:nvPr/>
        </p:nvSpPr>
        <p:spPr>
          <a:xfrm>
            <a:off x="437211" y="3864016"/>
            <a:ext cx="2553414" cy="369332"/>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Override the function</a:t>
            </a:r>
          </a:p>
        </p:txBody>
      </p:sp>
      <p:sp>
        <p:nvSpPr>
          <p:cNvPr id="12" name="Left Brace 11">
            <a:extLst>
              <a:ext uri="{FF2B5EF4-FFF2-40B4-BE49-F238E27FC236}">
                <a16:creationId xmlns:a16="http://schemas.microsoft.com/office/drawing/2014/main" id="{6F79D5E5-820E-1170-358A-4CDDE8DD4903}"/>
              </a:ext>
            </a:extLst>
          </p:cNvPr>
          <p:cNvSpPr/>
          <p:nvPr/>
        </p:nvSpPr>
        <p:spPr>
          <a:xfrm>
            <a:off x="2956097" y="3448362"/>
            <a:ext cx="138112" cy="1200640"/>
          </a:xfrm>
          <a:prstGeom prst="leftBrace">
            <a:avLst>
              <a:gd name="adj1" fmla="val 0"/>
              <a:gd name="adj2" fmla="val 50000"/>
            </a:avLst>
          </a:prstGeom>
          <a:ln w="57150">
            <a:solidFill>
              <a:schemeClr val="accent2">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pic>
        <p:nvPicPr>
          <p:cNvPr id="7" name="Picture 6">
            <a:extLst>
              <a:ext uri="{FF2B5EF4-FFF2-40B4-BE49-F238E27FC236}">
                <a16:creationId xmlns:a16="http://schemas.microsoft.com/office/drawing/2014/main" id="{519A5B2A-CC9A-8BEE-092F-AEB377B475A8}"/>
              </a:ext>
            </a:extLst>
          </p:cNvPr>
          <p:cNvPicPr>
            <a:picLocks noChangeAspect="1"/>
          </p:cNvPicPr>
          <p:nvPr/>
        </p:nvPicPr>
        <p:blipFill>
          <a:blip r:embed="rId3"/>
          <a:stretch>
            <a:fillRect/>
          </a:stretch>
        </p:blipFill>
        <p:spPr>
          <a:xfrm>
            <a:off x="8281988" y="4281488"/>
            <a:ext cx="862012" cy="862012"/>
          </a:xfrm>
          <a:prstGeom prst="rect">
            <a:avLst/>
          </a:prstGeom>
        </p:spPr>
      </p:pic>
      <p:sp>
        <p:nvSpPr>
          <p:cNvPr id="5" name="TextBox 4">
            <a:extLst>
              <a:ext uri="{FF2B5EF4-FFF2-40B4-BE49-F238E27FC236}">
                <a16:creationId xmlns:a16="http://schemas.microsoft.com/office/drawing/2014/main" id="{91EF9445-0001-90D2-DF94-A8396BA0A8CD}"/>
              </a:ext>
            </a:extLst>
          </p:cNvPr>
          <p:cNvSpPr txBox="1"/>
          <p:nvPr/>
        </p:nvSpPr>
        <p:spPr>
          <a:xfrm>
            <a:off x="3025153" y="907734"/>
            <a:ext cx="6210098" cy="2031325"/>
          </a:xfrm>
          <a:prstGeom prst="rect">
            <a:avLst/>
          </a:prstGeom>
          <a:noFill/>
        </p:spPr>
        <p:txBody>
          <a:bodyPr wrap="square">
            <a:spAutoFit/>
          </a:bodyPr>
          <a:lstStyle/>
          <a:p>
            <a:pPr marL="0" indent="0">
              <a:buFont typeface="Arial" panose="020B0604020202020204" pitchFamily="34" charset="0"/>
              <a:buNone/>
            </a:pPr>
            <a:r>
              <a:rPr lang="en-US" sz="1800" dirty="0">
                <a:latin typeface="Rubik" panose="020B0604020202020204" charset="-79"/>
                <a:cs typeface="Rubik" panose="020B0604020202020204" charset="-79"/>
              </a:rPr>
              <a:t>public class </a:t>
            </a:r>
            <a:r>
              <a:rPr lang="en-US" sz="1800" b="1" dirty="0">
                <a:latin typeface="Rubik" panose="020B0604020202020204" charset="-79"/>
                <a:cs typeface="Rubik" panose="020B0604020202020204" charset="-79"/>
              </a:rPr>
              <a:t>Animal</a:t>
            </a:r>
          </a:p>
          <a:p>
            <a:pPr marL="0" indent="0">
              <a:buFont typeface="Arial" panose="020B0604020202020204" pitchFamily="34" charset="0"/>
              <a:buNone/>
            </a:pP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private </a:t>
            </a:r>
            <a:r>
              <a:rPr lang="en-US" sz="1800" b="1" dirty="0">
                <a:latin typeface="Rubik" panose="020B0604020202020204" charset="-79"/>
                <a:cs typeface="Rubik" panose="020B0604020202020204" charset="-79"/>
              </a:rPr>
              <a:t>static</a:t>
            </a:r>
            <a:r>
              <a:rPr lang="en-US" sz="1800" dirty="0">
                <a:latin typeface="Rubik" panose="020B0604020202020204" charset="-79"/>
                <a:cs typeface="Rubik" panose="020B0604020202020204" charset="-79"/>
              </a:rPr>
              <a:t> int </a:t>
            </a:r>
            <a:r>
              <a:rPr lang="en-US" sz="1800" dirty="0" err="1">
                <a:latin typeface="Rubik" panose="020B0604020202020204" charset="-79"/>
                <a:cs typeface="Rubik" panose="020B0604020202020204" charset="-79"/>
              </a:rPr>
              <a:t>animalsCount</a:t>
            </a:r>
            <a:r>
              <a:rPr lang="en-US" sz="1800" dirty="0">
                <a:latin typeface="Rubik" panose="020B0604020202020204" charset="-79"/>
                <a:cs typeface="Rubik" panose="020B0604020202020204" charset="-79"/>
              </a:rPr>
              <a:t>;</a:t>
            </a:r>
          </a:p>
          <a:p>
            <a:pPr marL="0" indent="0">
              <a:buFont typeface="Arial" panose="020B0604020202020204" pitchFamily="34" charset="0"/>
              <a:buNone/>
            </a:pPr>
            <a:r>
              <a:rPr lang="en-US" sz="1800" dirty="0">
                <a:latin typeface="Rubik" panose="020B0604020202020204" charset="-79"/>
                <a:cs typeface="Rubik" panose="020B0604020202020204" charset="-79"/>
              </a:rPr>
              <a:t>    public void </a:t>
            </a:r>
            <a:r>
              <a:rPr lang="en-US" sz="1800" b="1" dirty="0" err="1">
                <a:latin typeface="Rubik" panose="020B0604020202020204" charset="-79"/>
                <a:cs typeface="Rubik" panose="020B0604020202020204" charset="-79"/>
              </a:rPr>
              <a:t>animalSound</a:t>
            </a:r>
            <a:r>
              <a:rPr lang="en-US" sz="1800" dirty="0">
                <a:latin typeface="Rubik" panose="020B0604020202020204" charset="-79"/>
                <a:cs typeface="Rubik" panose="020B0604020202020204" charset="-79"/>
              </a:rPr>
              <a:t>() {</a:t>
            </a:r>
          </a:p>
          <a:p>
            <a:pPr marL="0" indent="0">
              <a:buFont typeface="Arial" panose="020B0604020202020204" pitchFamily="34" charset="0"/>
              <a:buNone/>
            </a:pPr>
            <a:r>
              <a:rPr lang="en-US" sz="1800" dirty="0">
                <a:latin typeface="Rubik" panose="020B0604020202020204" charset="-79"/>
                <a:cs typeface="Rubik" panose="020B0604020202020204" charset="-79"/>
              </a:rPr>
              <a:t>        </a:t>
            </a:r>
            <a:r>
              <a:rPr lang="en-US" sz="1800" dirty="0" err="1">
                <a:latin typeface="Rubik" panose="020B0604020202020204" charset="-79"/>
                <a:cs typeface="Rubik" panose="020B0604020202020204" charset="-79"/>
              </a:rPr>
              <a:t>System.out.print</a:t>
            </a:r>
            <a:r>
              <a:rPr lang="en-US" sz="1800" dirty="0">
                <a:latin typeface="Rubik" panose="020B0604020202020204" charset="-79"/>
                <a:cs typeface="Rubik" panose="020B0604020202020204" charset="-79"/>
              </a:rPr>
              <a:t>(“The animal makes the sound: “)</a:t>
            </a:r>
          </a:p>
          <a:p>
            <a:pPr marL="0" indent="0">
              <a:buFont typeface="Arial" panose="020B0604020202020204" pitchFamily="34" charset="0"/>
              <a:buNone/>
            </a:pPr>
            <a:r>
              <a:rPr lang="en-US" sz="1800" dirty="0">
                <a:latin typeface="Rubik" panose="020B0604020202020204" charset="-79"/>
                <a:cs typeface="Rubik" panose="020B0604020202020204" charset="-79"/>
              </a:rPr>
              <a:t>   }</a:t>
            </a:r>
            <a:endParaRPr lang="he-IL" sz="1800" dirty="0">
              <a:latin typeface="Rubik" panose="020B0604020202020204" charset="-79"/>
              <a:cs typeface="Rubik" panose="020B0604020202020204" charset="-79"/>
            </a:endParaRPr>
          </a:p>
          <a:p>
            <a:pPr marL="0" indent="0">
              <a:buFont typeface="Arial" panose="020B0604020202020204" pitchFamily="34" charset="0"/>
              <a:buNone/>
            </a:pPr>
            <a:r>
              <a:rPr lang="en-US" sz="1800" dirty="0">
                <a:latin typeface="Rubik" panose="020B0604020202020204" charset="-79"/>
                <a:cs typeface="Rubik" panose="020B0604020202020204" charset="-79"/>
              </a:rPr>
              <a:t>}</a:t>
            </a:r>
          </a:p>
        </p:txBody>
      </p:sp>
      <p:sp>
        <p:nvSpPr>
          <p:cNvPr id="8" name="Left Brace 7">
            <a:extLst>
              <a:ext uri="{FF2B5EF4-FFF2-40B4-BE49-F238E27FC236}">
                <a16:creationId xmlns:a16="http://schemas.microsoft.com/office/drawing/2014/main" id="{29BB216C-A92D-A7CE-01BF-AD0AB248FFAE}"/>
              </a:ext>
            </a:extLst>
          </p:cNvPr>
          <p:cNvSpPr/>
          <p:nvPr/>
        </p:nvSpPr>
        <p:spPr>
          <a:xfrm>
            <a:off x="2956097" y="1846773"/>
            <a:ext cx="138112" cy="724977"/>
          </a:xfrm>
          <a:prstGeom prst="leftBrace">
            <a:avLst>
              <a:gd name="adj1" fmla="val 0"/>
              <a:gd name="adj2" fmla="val 50000"/>
            </a:avLst>
          </a:prstGeom>
          <a:ln w="57150">
            <a:solidFill>
              <a:schemeClr val="accent5"/>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386800A2-78CF-2F03-008D-7E9DA0B32015}"/>
              </a:ext>
            </a:extLst>
          </p:cNvPr>
          <p:cNvSpPr txBox="1"/>
          <p:nvPr/>
        </p:nvSpPr>
        <p:spPr>
          <a:xfrm>
            <a:off x="402683" y="1877570"/>
            <a:ext cx="2553414" cy="646331"/>
          </a:xfrm>
          <a:prstGeom prst="rect">
            <a:avLst/>
          </a:prstGeom>
          <a:noFill/>
        </p:spPr>
        <p:txBody>
          <a:bodyPr wrap="square">
            <a:spAutoFit/>
          </a:bodyPr>
          <a:lstStyle/>
          <a:p>
            <a:pPr marL="0" indent="0" algn="ctr">
              <a:buFont typeface="Arial" panose="020B0604020202020204" pitchFamily="34" charset="0"/>
              <a:buNone/>
            </a:pPr>
            <a:r>
              <a:rPr lang="en-US" sz="1800" dirty="0">
                <a:latin typeface="Rubik" panose="020B0604020202020204" charset="-79"/>
                <a:cs typeface="Rubik" panose="020B0604020202020204" charset="-79"/>
              </a:rPr>
              <a:t>Original function inside the base class</a:t>
            </a:r>
          </a:p>
        </p:txBody>
      </p:sp>
    </p:spTree>
    <p:extLst>
      <p:ext uri="{BB962C8B-B14F-4D97-AF65-F5344CB8AC3E}">
        <p14:creationId xmlns:p14="http://schemas.microsoft.com/office/powerpoint/2010/main" val="2073884443"/>
      </p:ext>
    </p:extLst>
  </p:cSld>
  <p:clrMapOvr>
    <a:masterClrMapping/>
  </p:clrMapOvr>
</p:sld>
</file>

<file path=ppt/theme/theme1.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586</TotalTime>
  <Words>1092</Words>
  <Application>Microsoft Office PowerPoint</Application>
  <PresentationFormat>On-screen Show (16:9)</PresentationFormat>
  <Paragraphs>174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Arial</vt:lpstr>
      <vt:lpstr>Rubik</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5554</dc:title>
  <dc:creator>Yoav Rozov</dc:creator>
  <cp:lastModifiedBy>Yoav Rozov</cp:lastModifiedBy>
  <cp:revision>55</cp:revision>
  <dcterms:modified xsi:type="dcterms:W3CDTF">2026-05-02T16:16:11Z</dcterms:modified>
</cp:coreProperties>
</file>