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05" r:id="rId3"/>
    <p:sldId id="306" r:id="rId4"/>
    <p:sldId id="297" r:id="rId5"/>
    <p:sldId id="291" r:id="rId6"/>
    <p:sldId id="288" r:id="rId7"/>
    <p:sldId id="290" r:id="rId8"/>
    <p:sldId id="293" r:id="rId9"/>
    <p:sldId id="292" r:id="rId10"/>
    <p:sldId id="289" r:id="rId11"/>
    <p:sldId id="300" r:id="rId12"/>
    <p:sldId id="285" r:id="rId13"/>
    <p:sldId id="287" r:id="rId14"/>
    <p:sldId id="295" r:id="rId15"/>
    <p:sldId id="301" r:id="rId16"/>
    <p:sldId id="284" r:id="rId17"/>
    <p:sldId id="298" r:id="rId18"/>
    <p:sldId id="299" r:id="rId19"/>
  </p:sldIdLst>
  <p:sldSz cx="9144000" cy="5143500" type="screen16x9"/>
  <p:notesSz cx="6858000" cy="9144000"/>
  <p:embeddedFontLst>
    <p:embeddedFont>
      <p:font typeface="Rubik" pitchFamily="2" charset="-79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UVJU3jbxGl11X7yrLJ5REy1ms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471"/>
    <a:srgbClr val="EFF7FA"/>
    <a:srgbClr val="FBFCFE"/>
    <a:srgbClr val="DEE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Source: https://www.youtube.com/watch?v=UOuRx9Ujsog</a:t>
            </a: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3945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Source: https://www.youtube.com/watch?v=UOuRx9Ujsog</a:t>
            </a: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2720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05f3d7a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9605f3d7a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7795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Source: https://www.youtube.com/watch?v=UOuRx9Ujsog</a:t>
            </a: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9730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dirty="0"/>
              <a:t>Source: https://www.youtube.com/watch?v=UOuRx9Ujsog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3137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dirty="0"/>
              <a:t>Source: https://www.youtube.com/watch?v=UOuRx9Ujsog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28383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218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3548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https://colab.research.google.com/drive/1AqbGC0pA3tTUPmN8RgkXaOx1DoCk5dMC?usp=sharing</a:t>
            </a: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18564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05f3d7a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9605f3d7a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5886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8542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18328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75628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05f3d7a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9605f3d7a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1430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2484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64318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8142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UOuRx9Ujso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drive/1AqbGC0pA3tTUPmN8RgkXaOx1DoCk5dMC?usp=sharing" TargetMode="Externa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google.com/presentation/d/1IZQ-eNoxDW8Ns485gT6WliizNpOdMe8w3AgPq9VJncc/edit?pli=1#slide=id.g25d14764bf0_1_3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ro.docs.ctr-electronics.com/en/latest/docs/api-reference/device-specific/talonfx/motion-magic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0128" y="3122082"/>
            <a:ext cx="3853029" cy="1118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90" name="Google Shape;90;p1"/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 txBox="1"/>
          <p:nvPr/>
        </p:nvSpPr>
        <p:spPr>
          <a:xfrm>
            <a:off x="191624" y="516365"/>
            <a:ext cx="8760752" cy="183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Control theory</a:t>
            </a:r>
            <a:endParaRPr sz="3200" b="1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728216" y="2200554"/>
            <a:ext cx="390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A simple logo representing binary search in blue, gray, and white colors">
            <a:extLst>
              <a:ext uri="{FF2B5EF4-FFF2-40B4-BE49-F238E27FC236}">
                <a16:creationId xmlns:a16="http://schemas.microsoft.com/office/drawing/2014/main" id="{421E5743-C438-7F47-A311-B8C819C17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928" y="3565721"/>
            <a:ext cx="1575072" cy="157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5;p1">
            <a:extLst>
              <a:ext uri="{FF2B5EF4-FFF2-40B4-BE49-F238E27FC236}">
                <a16:creationId xmlns:a16="http://schemas.microsoft.com/office/drawing/2014/main" id="{6E400EBA-F681-52BC-4857-2972554A8D32}"/>
              </a:ext>
            </a:extLst>
          </p:cNvPr>
          <p:cNvSpPr txBox="1"/>
          <p:nvPr/>
        </p:nvSpPr>
        <p:spPr>
          <a:xfrm>
            <a:off x="1638251" y="902719"/>
            <a:ext cx="5536785" cy="765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Authors:</a:t>
            </a: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Yoav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Rozov</a:t>
            </a:r>
            <a:r>
              <a:rPr lang="en-US" sz="2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, Tomy </a:t>
            </a:r>
            <a:r>
              <a:rPr lang="en-US" sz="2000" b="1" dirty="0" err="1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Tochilovsky</a:t>
            </a:r>
            <a:endParaRPr lang="iw-IL" sz="2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5016087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Motor Configuration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78066" y="1047863"/>
            <a:ext cx="4855573" cy="1234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When we start working with a motor our first step would always be to configure it. Setting its ID and name is just the first part of the process. </a:t>
            </a:r>
            <a:b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</a:b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We also need to configure its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NeutralMode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(Coast/Brake), if the motor is inverted, its limits and more.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We can do the configuration using the Phoenix Tuner: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C19EEE1-A4BE-DABF-F8F2-46BCE787A2A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3141"/>
          <a:stretch/>
        </p:blipFill>
        <p:spPr>
          <a:xfrm>
            <a:off x="5965815" y="848394"/>
            <a:ext cx="2328738" cy="420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99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5016087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Motor Configuration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78066" y="1047863"/>
            <a:ext cx="4275109" cy="1234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Motors can also be configured through code, and they </a:t>
            </a:r>
            <a:r>
              <a:rPr lang="en-US" sz="1600" b="1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should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be configured through code when we create a subsystem. The configuration constants will be saved in the Constants.java file and applied when creating an instance of the motor in the subsystem.</a:t>
            </a:r>
            <a:b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</a:br>
            <a:b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</a:b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In the following example we see part of the motor configuration of the swerve module: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C6B786-1B43-4CED-FBAF-E4301A6E5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042" y="1158222"/>
            <a:ext cx="3708152" cy="326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32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89;p1">
            <a:extLst>
              <a:ext uri="{FF2B5EF4-FFF2-40B4-BE49-F238E27FC236}">
                <a16:creationId xmlns:a16="http://schemas.microsoft.com/office/drawing/2014/main" id="{A7ADCE01-0604-AC2B-8A5F-F7BB47FC7A4C}"/>
              </a:ext>
            </a:extLst>
          </p:cNvPr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13" name="Google Shape;90;p1">
              <a:extLst>
                <a:ext uri="{FF2B5EF4-FFF2-40B4-BE49-F238E27FC236}">
                  <a16:creationId xmlns:a16="http://schemas.microsoft.com/office/drawing/2014/main" id="{197DB5CE-FCBF-8893-324E-AD37E651D7AA}"/>
                </a:ext>
              </a:extLst>
            </p:cNvPr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1;p1">
              <a:extLst>
                <a:ext uri="{FF2B5EF4-FFF2-40B4-BE49-F238E27FC236}">
                  <a16:creationId xmlns:a16="http://schemas.microsoft.com/office/drawing/2014/main" id="{A43190ED-CA31-8839-309D-FB9B63C3C90E}"/>
                </a:ext>
              </a:extLst>
            </p:cNvPr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2;p1">
              <a:extLst>
                <a:ext uri="{FF2B5EF4-FFF2-40B4-BE49-F238E27FC236}">
                  <a16:creationId xmlns:a16="http://schemas.microsoft.com/office/drawing/2014/main" id="{BF5406F8-2983-749B-C606-2DF4D2CD9CE3}"/>
                </a:ext>
              </a:extLst>
            </p:cNvPr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3;p1">
              <a:extLst>
                <a:ext uri="{FF2B5EF4-FFF2-40B4-BE49-F238E27FC236}">
                  <a16:creationId xmlns:a16="http://schemas.microsoft.com/office/drawing/2014/main" id="{BE61CB2D-6802-2600-98F4-F5F5F4757D89}"/>
                </a:ext>
              </a:extLst>
            </p:cNvPr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g9605f3d7aa_0_91"/>
          <p:cNvSpPr txBox="1"/>
          <p:nvPr/>
        </p:nvSpPr>
        <p:spPr>
          <a:xfrm>
            <a:off x="1684697" y="306560"/>
            <a:ext cx="5574368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bg1"/>
                </a:solidFill>
              </a:rPr>
              <a:t>PID</a:t>
            </a:r>
            <a:endParaRPr sz="6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F3CC3-D080-F54E-C1AF-4F79B375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90" y="2387555"/>
            <a:ext cx="2558182" cy="25581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B9324-F937-11CD-AB70-EAEC7FF3FB22}"/>
              </a:ext>
            </a:extLst>
          </p:cNvPr>
          <p:cNvSpPr txBox="1"/>
          <p:nvPr/>
        </p:nvSpPr>
        <p:spPr>
          <a:xfrm>
            <a:off x="33512" y="4777860"/>
            <a:ext cx="416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Source: </a:t>
            </a:r>
            <a:r>
              <a:rPr lang="fr-FR" sz="1200" dirty="0">
                <a:hlinkClick r:id="rId4"/>
              </a:rPr>
              <a:t>https://www.youtube.com/watch?v=UOuRx9Ujsog</a:t>
            </a:r>
            <a:endParaRPr lang="fr-FR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06212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5016087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Open loop control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422671" y="3456528"/>
            <a:ext cx="7309036" cy="1105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What is the problem with open loop control?</a:t>
            </a: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Doesn’t account for unexpected disturbances in the system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7F3CC8-71AE-474D-61F0-EADE43D1C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919" y="1687826"/>
            <a:ext cx="7406161" cy="140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58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5016087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Closed loop controller 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7" y="975514"/>
            <a:ext cx="4944044" cy="383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Feedback controller: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A feedback controller is a system designed to maintain a desired state (setpoint) of a variable by continuously monitoring its actual state (process variable), calculating the difference (error), and adjusting an influencing factor (output) based on that error.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PID is a very popular feedback controller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C06748-6FF8-0A5C-E715-4D3E23215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691" y="2217202"/>
            <a:ext cx="3724623" cy="134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792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4230948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How does it work?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7" y="975514"/>
            <a:ext cx="3871658" cy="2524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PID = </a:t>
            </a:r>
            <a:r>
              <a:rPr lang="en-US" sz="1600" b="1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P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roportional </a:t>
            </a:r>
            <a:r>
              <a:rPr lang="en-US" sz="1600" b="1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I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ntegral </a:t>
            </a:r>
            <a:r>
              <a:rPr lang="en-US" sz="1600" b="1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erivative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Output voltage = 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Kp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* error + 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Ki * accumulated-error-second + 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Kd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* error/second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diagram of a complex system&#10;&#10;Description automatically generated">
            <a:extLst>
              <a:ext uri="{FF2B5EF4-FFF2-40B4-BE49-F238E27FC236}">
                <a16:creationId xmlns:a16="http://schemas.microsoft.com/office/drawing/2014/main" id="{DE220847-C467-64FE-E60B-0BC15380DE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912" b="26841"/>
          <a:stretch/>
        </p:blipFill>
        <p:spPr>
          <a:xfrm>
            <a:off x="3852886" y="1348943"/>
            <a:ext cx="4935467" cy="322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04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93267"/>
            <a:chOff x="0" y="162814"/>
            <a:chExt cx="9147753" cy="693267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93266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91366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91366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4230948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Terminology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D controller response types">
            <a:extLst>
              <a:ext uri="{FF2B5EF4-FFF2-40B4-BE49-F238E27FC236}">
                <a16:creationId xmlns:a16="http://schemas.microsoft.com/office/drawing/2014/main" id="{5D5DE069-CE06-41E4-5A22-13334A844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431" y="1142893"/>
            <a:ext cx="2593922" cy="217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E76470-94E9-ADEF-B110-BD0879717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47" y="1142893"/>
            <a:ext cx="2889592" cy="238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C52408-0076-0475-F060-DD3516E473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906" y="3065131"/>
            <a:ext cx="2305371" cy="172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726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93267"/>
            <a:chOff x="0" y="162814"/>
            <a:chExt cx="9147753" cy="693267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93266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91366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91366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5336845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Ziegler Nichols Method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6" y="975513"/>
            <a:ext cx="7423935" cy="3912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Set Ki and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Kd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to 0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Increase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Kp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until output is a sustained and stable oscillation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Record the critical gain Kc (The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Kp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that caused the oscillation)</a:t>
            </a:r>
            <a:r>
              <a:rPr lang="en-US" sz="11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and the oscillation period Pc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Set PID parameters as such:</a:t>
            </a:r>
          </a:p>
          <a:p>
            <a:pPr>
              <a:lnSpc>
                <a:spcPct val="115000"/>
              </a:lnSpc>
            </a:pPr>
            <a:r>
              <a:rPr lang="en-US" sz="20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	</a:t>
            </a:r>
            <a:r>
              <a:rPr lang="en-US" sz="20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Kp</a:t>
            </a:r>
            <a:r>
              <a:rPr lang="en-US" sz="20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= 0.6 * Kc</a:t>
            </a:r>
          </a:p>
          <a:p>
            <a:pPr>
              <a:lnSpc>
                <a:spcPct val="115000"/>
              </a:lnSpc>
            </a:pPr>
            <a:r>
              <a:rPr lang="en-US" sz="20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	Ki = 2 * </a:t>
            </a:r>
            <a:r>
              <a:rPr lang="en-US" sz="20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Kp</a:t>
            </a:r>
            <a:r>
              <a:rPr lang="en-US" sz="20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/Pc</a:t>
            </a:r>
          </a:p>
          <a:p>
            <a:pPr>
              <a:lnSpc>
                <a:spcPct val="115000"/>
              </a:lnSpc>
            </a:pPr>
            <a:r>
              <a:rPr lang="en-US" sz="20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	</a:t>
            </a:r>
            <a:r>
              <a:rPr lang="en-US" sz="20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Kd</a:t>
            </a:r>
            <a:r>
              <a:rPr lang="en-US" sz="20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= 0.125 * </a:t>
            </a:r>
            <a:r>
              <a:rPr lang="en-US" sz="20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Kp</a:t>
            </a:r>
            <a:r>
              <a:rPr lang="en-US" sz="20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* Pc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264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93267"/>
            <a:chOff x="0" y="162814"/>
            <a:chExt cx="9147753" cy="693267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93266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91366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91366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4230948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Rules of thumb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FBCA40-8164-D73C-6862-A9BC8505F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614" y="1327616"/>
            <a:ext cx="8442771" cy="28757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9F6CC8-6456-9096-BD89-25B7389647D8}"/>
              </a:ext>
            </a:extLst>
          </p:cNvPr>
          <p:cNvSpPr txBox="1"/>
          <p:nvPr/>
        </p:nvSpPr>
        <p:spPr>
          <a:xfrm>
            <a:off x="350614" y="4447527"/>
            <a:ext cx="4135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Try it </a:t>
            </a:r>
            <a:r>
              <a:rPr lang="en-US" dirty="0">
                <a:hlinkClick r:id="rId5"/>
              </a:rPr>
              <a:t>here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6257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89;p1">
            <a:extLst>
              <a:ext uri="{FF2B5EF4-FFF2-40B4-BE49-F238E27FC236}">
                <a16:creationId xmlns:a16="http://schemas.microsoft.com/office/drawing/2014/main" id="{A7ADCE01-0604-AC2B-8A5F-F7BB47FC7A4C}"/>
              </a:ext>
            </a:extLst>
          </p:cNvPr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13" name="Google Shape;90;p1">
              <a:extLst>
                <a:ext uri="{FF2B5EF4-FFF2-40B4-BE49-F238E27FC236}">
                  <a16:creationId xmlns:a16="http://schemas.microsoft.com/office/drawing/2014/main" id="{197DB5CE-FCBF-8893-324E-AD37E651D7AA}"/>
                </a:ext>
              </a:extLst>
            </p:cNvPr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1;p1">
              <a:extLst>
                <a:ext uri="{FF2B5EF4-FFF2-40B4-BE49-F238E27FC236}">
                  <a16:creationId xmlns:a16="http://schemas.microsoft.com/office/drawing/2014/main" id="{A43190ED-CA31-8839-309D-FB9B63C3C90E}"/>
                </a:ext>
              </a:extLst>
            </p:cNvPr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2;p1">
              <a:extLst>
                <a:ext uri="{FF2B5EF4-FFF2-40B4-BE49-F238E27FC236}">
                  <a16:creationId xmlns:a16="http://schemas.microsoft.com/office/drawing/2014/main" id="{BF5406F8-2983-749B-C606-2DF4D2CD9CE3}"/>
                </a:ext>
              </a:extLst>
            </p:cNvPr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3;p1">
              <a:extLst>
                <a:ext uri="{FF2B5EF4-FFF2-40B4-BE49-F238E27FC236}">
                  <a16:creationId xmlns:a16="http://schemas.microsoft.com/office/drawing/2014/main" id="{BE61CB2D-6802-2600-98F4-F5F5F4757D89}"/>
                </a:ext>
              </a:extLst>
            </p:cNvPr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g9605f3d7aa_0_91"/>
          <p:cNvSpPr txBox="1"/>
          <p:nvPr/>
        </p:nvSpPr>
        <p:spPr>
          <a:xfrm>
            <a:off x="1684697" y="306560"/>
            <a:ext cx="5574368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bg1"/>
                </a:solidFill>
              </a:rPr>
              <a:t>Feedforward</a:t>
            </a:r>
            <a:endParaRPr sz="6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F3CC3-D080-F54E-C1AF-4F79B375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90" y="2387555"/>
            <a:ext cx="2558182" cy="25581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B9324-F937-11CD-AB70-EAEC7FF3FB22}"/>
              </a:ext>
            </a:extLst>
          </p:cNvPr>
          <p:cNvSpPr txBox="1"/>
          <p:nvPr/>
        </p:nvSpPr>
        <p:spPr>
          <a:xfrm>
            <a:off x="33512" y="4777860"/>
            <a:ext cx="3782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Source: </a:t>
            </a:r>
            <a:r>
              <a:rPr lang="fr-FR" sz="1200" dirty="0">
                <a:hlinkClick r:id="rId4"/>
              </a:rPr>
              <a:t>BREAD 5940</a:t>
            </a:r>
            <a:endParaRPr lang="fr-FR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6636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4934701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Feedforward controller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6" y="975514"/>
            <a:ext cx="8185137" cy="383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Why use feedforward?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Feedforward helps the system to make a relatively accurate prediction of what the output should be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The </a:t>
            </a:r>
            <a:r>
              <a:rPr lang="en-US" sz="2400" i="1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best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solution is to combine a feedforward controller and a feedback controller by adding their outputs together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3212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93267"/>
            <a:chOff x="0" y="162814"/>
            <a:chExt cx="9147753" cy="693267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93266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91366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91366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4230948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How does it work?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7" y="975513"/>
            <a:ext cx="4771696" cy="370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Output voltage = 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Kg + 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Ks * sign(v) + 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Kv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*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TargetVelocity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+ 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Ka *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TargetAcceleration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8E4B5C-8F57-C053-36B3-AD3CBE663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376" y="2055247"/>
            <a:ext cx="4643977" cy="118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79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93267"/>
            <a:chOff x="0" y="162814"/>
            <a:chExt cx="9147753" cy="693267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93266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91366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91366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4230948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PID + Feedforward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100111-6E19-E23B-6536-6F1220FCF34C}"/>
              </a:ext>
            </a:extLst>
          </p:cNvPr>
          <p:cNvSpPr txBox="1"/>
          <p:nvPr/>
        </p:nvSpPr>
        <p:spPr>
          <a:xfrm>
            <a:off x="2188430" y="1154318"/>
            <a:ext cx="4619874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800"/>
              </a:spcBef>
              <a:spcAft>
                <a:spcPts val="0"/>
              </a:spcAft>
            </a:pPr>
            <a:r>
              <a:rPr lang="en-US" sz="1400" b="1" i="0" u="none" strike="noStrike" dirty="0" err="1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kG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: Add fixed voltage to offset gravity in one direction</a:t>
            </a:r>
            <a:endParaRPr lang="en-US" dirty="0">
              <a:effectLst/>
              <a:latin typeface="Rubik" panose="020B0604020202020204" charset="-79"/>
              <a:cs typeface="Rubik" panose="020B0604020202020204" charset="-79"/>
            </a:endParaRPr>
          </a:p>
          <a:p>
            <a:pPr rtl="0">
              <a:spcBef>
                <a:spcPts val="800"/>
              </a:spcBef>
              <a:spcAft>
                <a:spcPts val="0"/>
              </a:spcAft>
            </a:pPr>
            <a:r>
              <a:rPr lang="en-US" sz="1400" b="1" i="0" u="none" strike="noStrike" dirty="0" err="1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kS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: Add fixed voltage to offset static friction in the direction of rotation</a:t>
            </a:r>
            <a:endParaRPr lang="en-US" dirty="0">
              <a:effectLst/>
              <a:latin typeface="Rubik" panose="020B0604020202020204" charset="-79"/>
              <a:cs typeface="Rubik" panose="020B0604020202020204" charset="-79"/>
            </a:endParaRPr>
          </a:p>
          <a:p>
            <a:pPr rtl="0">
              <a:spcBef>
                <a:spcPts val="80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kV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: Add voltage proportional to the desired profile velocity</a:t>
            </a:r>
            <a:endParaRPr lang="en-US" dirty="0">
              <a:effectLst/>
              <a:latin typeface="Rubik" panose="020B0604020202020204" charset="-79"/>
              <a:cs typeface="Rubik" panose="020B0604020202020204" charset="-79"/>
            </a:endParaRPr>
          </a:p>
          <a:p>
            <a:pPr rtl="0">
              <a:spcBef>
                <a:spcPts val="80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kA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: Add voltage proportional to the desired profile acceleration</a:t>
            </a:r>
            <a:endParaRPr lang="en-US" dirty="0">
              <a:effectLst/>
              <a:latin typeface="Rubik" panose="020B0604020202020204" charset="-79"/>
              <a:cs typeface="Rubik" panose="020B0604020202020204" charset="-79"/>
            </a:endParaRPr>
          </a:p>
          <a:p>
            <a:pPr rtl="0">
              <a:spcBef>
                <a:spcPts val="800"/>
              </a:spcBef>
              <a:spcAft>
                <a:spcPts val="0"/>
              </a:spcAft>
            </a:pPr>
            <a:r>
              <a:rPr lang="en-US" sz="1400" b="1" i="0" u="none" strike="noStrike" dirty="0" err="1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kP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: Add voltage proportional to the closed-loop error</a:t>
            </a:r>
            <a:endParaRPr lang="en-US" dirty="0">
              <a:effectLst/>
              <a:latin typeface="Rubik" panose="020B0604020202020204" charset="-79"/>
              <a:cs typeface="Rubik" panose="020B0604020202020204" charset="-79"/>
            </a:endParaRPr>
          </a:p>
          <a:p>
            <a:pPr rtl="0">
              <a:spcBef>
                <a:spcPts val="800"/>
              </a:spcBef>
              <a:spcAft>
                <a:spcPts val="0"/>
              </a:spcAft>
            </a:pPr>
            <a:r>
              <a:rPr lang="en-US" sz="1400" b="1" i="0" u="none" strike="noStrike" dirty="0" err="1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kI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: Add voltage proportional to the accumulated closed-loop error</a:t>
            </a:r>
            <a:endParaRPr lang="en-US" dirty="0">
              <a:effectLst/>
              <a:latin typeface="Rubik" panose="020B0604020202020204" charset="-79"/>
              <a:cs typeface="Rubik" panose="020B0604020202020204" charset="-79"/>
            </a:endParaRPr>
          </a:p>
          <a:p>
            <a:pPr rtl="0">
              <a:spcBef>
                <a:spcPts val="800"/>
              </a:spcBef>
              <a:spcAft>
                <a:spcPts val="0"/>
              </a:spcAft>
            </a:pPr>
            <a:r>
              <a:rPr lang="en-US" sz="1400" b="1" i="0" u="none" strike="noStrike" dirty="0" err="1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kD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: Add voltage proportional to the rate-of-change of the closed-loop error</a:t>
            </a:r>
            <a:endParaRPr lang="en-US" dirty="0">
              <a:effectLst/>
              <a:latin typeface="Rubik" panose="020B0604020202020204" charset="-79"/>
              <a:cs typeface="Rubik" panose="020B060402020202020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23982-3B74-CBF3-2619-79E8C0F5FE2E}"/>
              </a:ext>
            </a:extLst>
          </p:cNvPr>
          <p:cNvSpPr txBox="1"/>
          <p:nvPr/>
        </p:nvSpPr>
        <p:spPr>
          <a:xfrm>
            <a:off x="6955570" y="1971733"/>
            <a:ext cx="1335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Rubik" panose="020B0604020202020204" charset="-79"/>
                <a:cs typeface="Rubik" panose="020B0604020202020204" charset="-79"/>
              </a:rPr>
              <a:t>Feedforward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B30CEF-B445-F019-840B-AF788F2A23CA}"/>
              </a:ext>
            </a:extLst>
          </p:cNvPr>
          <p:cNvSpPr txBox="1"/>
          <p:nvPr/>
        </p:nvSpPr>
        <p:spPr>
          <a:xfrm>
            <a:off x="6955570" y="3835293"/>
            <a:ext cx="1191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Rubik" panose="020B0604020202020204" charset="-79"/>
                <a:cs typeface="Rubik" panose="020B0604020202020204" charset="-79"/>
              </a:rPr>
              <a:t>Feedback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097A52A-F916-79CA-9007-BF8D5D78CAD8}"/>
              </a:ext>
            </a:extLst>
          </p:cNvPr>
          <p:cNvSpPr/>
          <p:nvPr/>
        </p:nvSpPr>
        <p:spPr>
          <a:xfrm>
            <a:off x="2188430" y="1152417"/>
            <a:ext cx="4571428" cy="2112614"/>
          </a:xfrm>
          <a:prstGeom prst="roundRect">
            <a:avLst>
              <a:gd name="adj" fmla="val 5222"/>
            </a:avLst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21C4E7B-EFD6-E904-AF37-9915E743F1A5}"/>
              </a:ext>
            </a:extLst>
          </p:cNvPr>
          <p:cNvSpPr/>
          <p:nvPr/>
        </p:nvSpPr>
        <p:spPr>
          <a:xfrm>
            <a:off x="2183641" y="3290212"/>
            <a:ext cx="4571429" cy="1397940"/>
          </a:xfrm>
          <a:prstGeom prst="roundRect">
            <a:avLst>
              <a:gd name="adj" fmla="val 5222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100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89;p1">
            <a:extLst>
              <a:ext uri="{FF2B5EF4-FFF2-40B4-BE49-F238E27FC236}">
                <a16:creationId xmlns:a16="http://schemas.microsoft.com/office/drawing/2014/main" id="{A7ADCE01-0604-AC2B-8A5F-F7BB47FC7A4C}"/>
              </a:ext>
            </a:extLst>
          </p:cNvPr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13" name="Google Shape;90;p1">
              <a:extLst>
                <a:ext uri="{FF2B5EF4-FFF2-40B4-BE49-F238E27FC236}">
                  <a16:creationId xmlns:a16="http://schemas.microsoft.com/office/drawing/2014/main" id="{197DB5CE-FCBF-8893-324E-AD37E651D7AA}"/>
                </a:ext>
              </a:extLst>
            </p:cNvPr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1;p1">
              <a:extLst>
                <a:ext uri="{FF2B5EF4-FFF2-40B4-BE49-F238E27FC236}">
                  <a16:creationId xmlns:a16="http://schemas.microsoft.com/office/drawing/2014/main" id="{A43190ED-CA31-8839-309D-FB9B63C3C90E}"/>
                </a:ext>
              </a:extLst>
            </p:cNvPr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2;p1">
              <a:extLst>
                <a:ext uri="{FF2B5EF4-FFF2-40B4-BE49-F238E27FC236}">
                  <a16:creationId xmlns:a16="http://schemas.microsoft.com/office/drawing/2014/main" id="{BF5406F8-2983-749B-C606-2DF4D2CD9CE3}"/>
                </a:ext>
              </a:extLst>
            </p:cNvPr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3;p1">
              <a:extLst>
                <a:ext uri="{FF2B5EF4-FFF2-40B4-BE49-F238E27FC236}">
                  <a16:creationId xmlns:a16="http://schemas.microsoft.com/office/drawing/2014/main" id="{BE61CB2D-6802-2600-98F4-F5F5F4757D89}"/>
                </a:ext>
              </a:extLst>
            </p:cNvPr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g9605f3d7aa_0_91"/>
          <p:cNvSpPr txBox="1"/>
          <p:nvPr/>
        </p:nvSpPr>
        <p:spPr>
          <a:xfrm>
            <a:off x="1610731" y="306560"/>
            <a:ext cx="5722299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bg1"/>
                </a:solidFill>
              </a:rPr>
              <a:t>Motion profiles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F3CC3-D080-F54E-C1AF-4F79B375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90" y="2387555"/>
            <a:ext cx="2558182" cy="25581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B9324-F937-11CD-AB70-EAEC7FF3FB22}"/>
              </a:ext>
            </a:extLst>
          </p:cNvPr>
          <p:cNvSpPr txBox="1"/>
          <p:nvPr/>
        </p:nvSpPr>
        <p:spPr>
          <a:xfrm>
            <a:off x="33512" y="4777860"/>
            <a:ext cx="3782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Source: </a:t>
            </a:r>
            <a:r>
              <a:rPr lang="fr-FR" sz="1200" dirty="0">
                <a:hlinkClick r:id="rId4"/>
              </a:rPr>
              <a:t>Phoenix 6 docs</a:t>
            </a:r>
            <a:endParaRPr lang="fr-FR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22716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4230948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Motion profiles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6" y="975514"/>
            <a:ext cx="7988852" cy="383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What if we want to control position? When controlling a DC motor, there’s no immediate relation between position and control signal. 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To use feedforward effectively for position control, we need to produce a sequence of velocities that will take the robot mechanism to the desired position. This is called a motion profile.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649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4230948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Motion Magic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6" y="975514"/>
            <a:ext cx="7988852" cy="57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Motion Magic® is a control mode that provides the benefit of Motion Profiling without needing to generate motion profile trajectory points.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2364CD8-4D56-8E27-3B96-A454782ED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84" y="1508035"/>
            <a:ext cx="7877175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4F14D8-01EF-ED28-FC1C-72F0E19C4992}"/>
              </a:ext>
            </a:extLst>
          </p:cNvPr>
          <p:cNvSpPr txBox="1"/>
          <p:nvPr/>
        </p:nvSpPr>
        <p:spPr>
          <a:xfrm>
            <a:off x="2392308" y="4331938"/>
            <a:ext cx="1422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*Jerk = 0</a:t>
            </a:r>
          </a:p>
        </p:txBody>
      </p:sp>
    </p:spTree>
    <p:extLst>
      <p:ext uri="{BB962C8B-B14F-4D97-AF65-F5344CB8AC3E}">
        <p14:creationId xmlns:p14="http://schemas.microsoft.com/office/powerpoint/2010/main" val="399479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-3753" y="160913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5609729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Motion Magic parameters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14898" y="975514"/>
            <a:ext cx="8962078" cy="1442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ubik" panose="020B0604020202020204" charset="-79"/>
                <a:cs typeface="Rubik" panose="020B0604020202020204" charset="-79"/>
              </a:rPr>
              <a:t>Cruise Velocity - peak/cruising velocity of the 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ubik" panose="020B0604020202020204" charset="-79"/>
                <a:cs typeface="Rubik" panose="020B0604020202020204" charset="-79"/>
              </a:rPr>
              <a:t>Acceleration - controls acceleration and deceleration rates during the beginning and end of 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ubik" panose="020B0604020202020204" charset="-79"/>
                <a:cs typeface="Rubik" panose="020B0604020202020204" charset="-79"/>
              </a:rPr>
              <a:t>Jerk (optional) - controls jerk, which is the derivative of acceleration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graph of a function&#10;&#10;Description automatically generated">
            <a:extLst>
              <a:ext uri="{FF2B5EF4-FFF2-40B4-BE49-F238E27FC236}">
                <a16:creationId xmlns:a16="http://schemas.microsoft.com/office/drawing/2014/main" id="{7CBE1FB4-293F-1B49-FF0E-7BF3049FF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529" y="2321904"/>
            <a:ext cx="4332815" cy="25630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DD56DA-3728-7C61-B122-EB59B9994A76}"/>
              </a:ext>
            </a:extLst>
          </p:cNvPr>
          <p:cNvSpPr txBox="1"/>
          <p:nvPr/>
        </p:nvSpPr>
        <p:spPr>
          <a:xfrm>
            <a:off x="2540718" y="4486383"/>
            <a:ext cx="1422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*Jerk != 0</a:t>
            </a:r>
          </a:p>
        </p:txBody>
      </p:sp>
    </p:spTree>
    <p:extLst>
      <p:ext uri="{BB962C8B-B14F-4D97-AF65-F5344CB8AC3E}">
        <p14:creationId xmlns:p14="http://schemas.microsoft.com/office/powerpoint/2010/main" val="270006730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720</Words>
  <Application>Microsoft Office PowerPoint</Application>
  <PresentationFormat>On-screen Show (16:9)</PresentationFormat>
  <Paragraphs>79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Rubik</vt:lpstr>
      <vt:lpstr>Arial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5554</dc:title>
  <dc:creator>Yoav Rozov; Tommy tochilovsky</dc:creator>
  <cp:lastModifiedBy>Yoav Rozov</cp:lastModifiedBy>
  <cp:revision>122</cp:revision>
  <dcterms:modified xsi:type="dcterms:W3CDTF">2026-05-02T16:24:16Z</dcterms:modified>
</cp:coreProperties>
</file>