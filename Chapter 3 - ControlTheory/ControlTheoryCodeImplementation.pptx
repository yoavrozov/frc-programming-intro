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10" r:id="rId3"/>
    <p:sldId id="309" r:id="rId4"/>
    <p:sldId id="308" r:id="rId5"/>
    <p:sldId id="311" r:id="rId6"/>
    <p:sldId id="312" r:id="rId7"/>
    <p:sldId id="313" r:id="rId8"/>
    <p:sldId id="321" r:id="rId9"/>
    <p:sldId id="314" r:id="rId10"/>
    <p:sldId id="306" r:id="rId11"/>
    <p:sldId id="319" r:id="rId12"/>
    <p:sldId id="297" r:id="rId13"/>
    <p:sldId id="291" r:id="rId14"/>
    <p:sldId id="307" r:id="rId15"/>
    <p:sldId id="315" r:id="rId16"/>
    <p:sldId id="316" r:id="rId17"/>
    <p:sldId id="317" r:id="rId18"/>
    <p:sldId id="318" r:id="rId19"/>
    <p:sldId id="320" r:id="rId20"/>
  </p:sldIdLst>
  <p:sldSz cx="9144000" cy="5143500" type="screen16x9"/>
  <p:notesSz cx="6858000" cy="9144000"/>
  <p:embeddedFontLst>
    <p:embeddedFont>
      <p:font typeface="Rubik" pitchFamily="2" charset="-79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UVJU3jbxGl11X7yrLJ5REy1m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471"/>
    <a:srgbClr val="EFF7FA"/>
    <a:srgbClr val="FBFCFE"/>
    <a:srgbClr val="DE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616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Source: https://pro.docs.ctr-electronics.com/en/latest/docs/hardware-reference/talonfx/improving-performance-with-current-limits.html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56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More information: https://pro.docs.ctr-electronics.com/en/latest/docs/hardware-reference/talonfx/improving-performance-with-current-limits.html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397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More information: https://pro.docs.ctr-electronics.com/en/latest/docs/hardware-reference/talonfx/improving-performance-with-current-limits.html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9792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URL: https://pro.docs.ctr-electronics.com/en/latest/docs/hardware-reference/talonfx/improving-performance-with-current-limits.html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3932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4464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AE3BF21-0715-A9E6-33AC-CCACCD0A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A628837-AD87-BC59-AB68-5F6223944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80693660-7C60-0244-8E8F-9BC70A514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0754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2441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272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5222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7795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All the config objects have detailed comments and explanations in the code itself</a:t>
            </a: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730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All the config objects have detailed comments and explanations in the code itself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2626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5225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4596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6718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4430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897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.docs.ctr-electronics.com/en/latest/docs/hardware-reference/talonfx/improving-performance-with-current-limit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docs.ctr-electronics.com/en/latest/docs/hardware-reference/talonfx/improving-performance-with-current-limit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avRozov/FRC-Programming-Intro/tree/main/Chapter%203%20-%20ControlTheory/JavaCustomConfig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128" y="3122082"/>
            <a:ext cx="3853029" cy="111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90" name="Google Shape;90;p1"/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91624" y="516365"/>
            <a:ext cx="8760752" cy="18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Control theory Code</a:t>
            </a:r>
            <a:endParaRPr sz="32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28216" y="2200554"/>
            <a:ext cx="390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A simple logo representing binary search in blue, gray, and white colors">
            <a:extLst>
              <a:ext uri="{FF2B5EF4-FFF2-40B4-BE49-F238E27FC236}">
                <a16:creationId xmlns:a16="http://schemas.microsoft.com/office/drawing/2014/main" id="{421E5743-C438-7F47-A311-B8C819C1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928" y="3565721"/>
            <a:ext cx="1575072" cy="157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5;p1">
            <a:extLst>
              <a:ext uri="{FF2B5EF4-FFF2-40B4-BE49-F238E27FC236}">
                <a16:creationId xmlns:a16="http://schemas.microsoft.com/office/drawing/2014/main" id="{FAB7FE5F-7948-7A7E-67B6-C76110E8451D}"/>
              </a:ext>
            </a:extLst>
          </p:cNvPr>
          <p:cNvSpPr txBox="1"/>
          <p:nvPr/>
        </p:nvSpPr>
        <p:spPr>
          <a:xfrm>
            <a:off x="1638251" y="902719"/>
            <a:ext cx="5536785" cy="76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Authors: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Yoav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Rozov</a:t>
            </a: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, Tomy </a:t>
            </a:r>
            <a:r>
              <a:rPr lang="en-US" sz="2000" b="1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Tochilovsky</a:t>
            </a:r>
            <a:endParaRPr lang="iw-IL" sz="2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671977" y="255212"/>
            <a:ext cx="7800045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Current limits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35431-3FBC-55EE-1724-2ECC91232AB2}"/>
              </a:ext>
            </a:extLst>
          </p:cNvPr>
          <p:cNvSpPr txBox="1"/>
          <p:nvPr/>
        </p:nvSpPr>
        <p:spPr>
          <a:xfrm>
            <a:off x="38299" y="4791848"/>
            <a:ext cx="3097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Source: </a:t>
            </a:r>
            <a:r>
              <a:rPr lang="en-US" dirty="0">
                <a:latin typeface="Rubik" panose="020B0604020202020204" charset="-79"/>
                <a:cs typeface="Rubik" panose="020B0604020202020204" charset="-79"/>
                <a:hlinkClick r:id="rId4"/>
              </a:rPr>
              <a:t>CTRE docs</a:t>
            </a:r>
            <a:endParaRPr lang="en-US" dirty="0">
              <a:latin typeface="Rubik" panose="020B0604020202020204" charset="-79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1616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Current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8482100" cy="3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Current limiting is the process of restricting motor output when a given current has surpassed a limit. There are two types of current limits available: stator and supply. Each of these limits accomplishes different goals.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It’s important to understand the need for current limits and how they work. When a motor is under a load, it takes an increasing amount of current to continue rotating the shaft of the motor (and by extension the mechanism). The cumulative sum of all the currents in a multi-motor system, such as a robot, may excessively drain batteries, trigger brownout protection, or in the worst case trip breakers.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3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Current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4341463" cy="396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Motor’s supply current </a:t>
            </a:r>
            <a:r>
              <a:rPr lang="en-US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MUST 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be limited by our program.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Stator limits: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Stator current is the output current of the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 and is directly proportional to torque.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Stator current limits are used to restrict the torque output of the motor. This can be used to prevent wheel slip or avoid damaging a mechanism when running into a hard stop. Supply current will not exceed a stator current limit and is often significantly lower than stator current.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C4F8015A-D7D5-C502-7F8B-FB87BC098F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872" t="4295"/>
          <a:stretch/>
        </p:blipFill>
        <p:spPr>
          <a:xfrm>
            <a:off x="4664090" y="1480311"/>
            <a:ext cx="4341463" cy="265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Current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7984546" cy="396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Supply current: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Supply current is the current drawn from the battery. As a result, limiting supply current can be useful to prevent breakers from tripping, as well as to improve the longevity of the battery.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the </a:t>
            </a: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SupplyCurrentThreshold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has elapsed for </a:t>
            </a: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SupplyTimeThreshold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amount of time, the supply current limiter will activate and reduce motor output until supply current is within range of the limit.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In the rare case where the robot experiences brownouts despite configuring stator current limits, a supply current limit can also further help avoid brownouts. However, such brownouts are most commonly caused by a bad battery or poor power wiring, so those should be examined first.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2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Determining Current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79727" y="2345843"/>
            <a:ext cx="7984546" cy="1216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Self learning at home:</a:t>
            </a:r>
          </a:p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dk1"/>
                </a:solidFill>
                <a:latin typeface="Rubik" pitchFamily="2" charset="-79"/>
                <a:cs typeface="Rubik" pitchFamily="2" charset="-79"/>
                <a:hlinkClick r:id="rId3"/>
              </a:rPr>
              <a:t>CTRE docs</a:t>
            </a:r>
            <a:endParaRPr lang="en-US" sz="2000" b="1" u="sng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3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451304" y="313093"/>
            <a:ext cx="8041153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Code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4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522B89F-C56A-9A43-23A8-62AF67EC4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E7B4090-DBFD-A13E-B3CF-DB2B7E46B5AB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4B05C983-7810-CE01-7C66-F2A77CEC0833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19123A71-A518-7757-412F-2864F16714A9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0752077-1A96-5C9B-834A-3644CA8B7E9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5723B590-487C-7A2A-3228-AB75EF743D0E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A8161E18-55FA-2946-D4DA-329C9F3C8DAD}"/>
              </a:ext>
            </a:extLst>
          </p:cNvPr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Important notice!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A0DF3F35-F54D-68BF-74AB-2FF20F0C795A}"/>
              </a:ext>
            </a:extLst>
          </p:cNvPr>
          <p:cNvSpPr txBox="1"/>
          <p:nvPr/>
        </p:nvSpPr>
        <p:spPr>
          <a:xfrm>
            <a:off x="579727" y="2571750"/>
            <a:ext cx="7984546" cy="194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use custom made java records that you can download from 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  <a:hlinkClick r:id="rId3"/>
              </a:rPr>
              <a:t>here</a:t>
            </a:r>
            <a:r>
              <a:rPr lang="en-US" sz="18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EF0188B-632D-5925-CC71-59AF7489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52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Current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4892900" cy="3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 current limits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MUST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be configured through code when we create a subsystem.</a:t>
            </a:r>
            <a:b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</a:b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Current limits parameters are configured using a config object: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CurrentLimitConfig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want to apply the configuration to a  motor controller we will use the following function: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config.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enableLimit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(motor);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A703E-3DD7-D05F-043F-AACC3E2D2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499" y="3612763"/>
            <a:ext cx="4839654" cy="1071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6FAF63-392F-2F7E-687C-88D9F6BF2270}"/>
              </a:ext>
            </a:extLst>
          </p:cNvPr>
          <p:cNvSpPr txBox="1"/>
          <p:nvPr/>
        </p:nvSpPr>
        <p:spPr>
          <a:xfrm>
            <a:off x="0" y="4494462"/>
            <a:ext cx="330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only an example; In real code the config objects should be created inside the Constats.java file</a:t>
            </a:r>
          </a:p>
        </p:txBody>
      </p:sp>
    </p:spTree>
    <p:extLst>
      <p:ext uri="{BB962C8B-B14F-4D97-AF65-F5344CB8AC3E}">
        <p14:creationId xmlns:p14="http://schemas.microsoft.com/office/powerpoint/2010/main" val="4017698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Motor Configuration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4892900" cy="3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Motors </a:t>
            </a:r>
            <a:r>
              <a:rPr lang="en-US" sz="1600" b="1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should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be configured through code when we create a subsystem.</a:t>
            </a:r>
            <a:b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</a:b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Usually, we configure the following parameters: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NeutralMode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– what the motor does when the supplied voltage is 0.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IsInverted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– What direction is considered positive for the motor.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Here is an example from the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SwerveModule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class.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this.config.turretInverted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() returns a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boolean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value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AF04C8-0C52-D96E-226F-5C3245CE8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277" y="1991778"/>
            <a:ext cx="3765574" cy="163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3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723267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Software limits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6254" y="995201"/>
            <a:ext cx="4892900" cy="3624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Motor soft limits are used to limit the motor’s possible position range.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soft limits parameters are configured using a config object: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SoftLimitsConfig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want to apply the configuration to a specific motor controller we will use the following function: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config.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enableLimit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(motor)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55131E-08B3-3375-5C40-91C6FEEE6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672" y="3575230"/>
            <a:ext cx="5417074" cy="6329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75F71-FD91-0B1B-D834-6BCC9DA53773}"/>
              </a:ext>
            </a:extLst>
          </p:cNvPr>
          <p:cNvSpPr txBox="1"/>
          <p:nvPr/>
        </p:nvSpPr>
        <p:spPr>
          <a:xfrm>
            <a:off x="0" y="4494272"/>
            <a:ext cx="330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only an example, In real code the config object should be created inside the Constats.java file</a:t>
            </a:r>
          </a:p>
        </p:txBody>
      </p:sp>
    </p:spTree>
    <p:extLst>
      <p:ext uri="{BB962C8B-B14F-4D97-AF65-F5344CB8AC3E}">
        <p14:creationId xmlns:p14="http://schemas.microsoft.com/office/powerpoint/2010/main" val="8442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671977" y="255212"/>
            <a:ext cx="7800045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Closed loop control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en-US"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1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PID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5451511" cy="379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Profile slots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A motor controller has 4 “profile slots”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Each profile slot can hold a different closed loop config, when running the closed loop controller, we need to specify which profile slot it will be using.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The PID parameters are configured using a config object: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want to apply the configuration to a specific profile slot on the motor controller we will use the following function: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config.configProfileSlot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(id, motor)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A9FCF-9FFE-9829-7189-3BDDA6D25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593" y="3992354"/>
            <a:ext cx="3967407" cy="546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DC3E3E-393C-8BD3-2C07-01A42CBA1AE0}"/>
              </a:ext>
            </a:extLst>
          </p:cNvPr>
          <p:cNvSpPr txBox="1"/>
          <p:nvPr/>
        </p:nvSpPr>
        <p:spPr>
          <a:xfrm>
            <a:off x="0" y="4494462"/>
            <a:ext cx="330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only an example; In real code the config object should be created inside the Constats.java file</a:t>
            </a:r>
          </a:p>
        </p:txBody>
      </p:sp>
    </p:spTree>
    <p:extLst>
      <p:ext uri="{BB962C8B-B14F-4D97-AF65-F5344CB8AC3E}">
        <p14:creationId xmlns:p14="http://schemas.microsoft.com/office/powerpoint/2010/main" val="217285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Feedforward + PID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5690883" cy="379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Feedforward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The Feedforward parameters are configured using a config object: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PIDFeedforwardConfig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want to apply the configuration to a specific profile slot on the motor controller we will use the following function: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config.configProfileSlot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(id, motor)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feedforward constructor expects the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Kp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, Ki,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Kd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parameters to be passed in as 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object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391DD3-D6AF-9C69-B9BE-A8FA14547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152" y="3609567"/>
            <a:ext cx="4427001" cy="1085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22A7C-2A9B-9648-D090-2CC2F2FAAE11}"/>
              </a:ext>
            </a:extLst>
          </p:cNvPr>
          <p:cNvSpPr txBox="1"/>
          <p:nvPr/>
        </p:nvSpPr>
        <p:spPr>
          <a:xfrm>
            <a:off x="0" y="4494462"/>
            <a:ext cx="330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only an example; In real code the config objects should be created inside the Constats.java file</a:t>
            </a:r>
          </a:p>
        </p:txBody>
      </p:sp>
    </p:spTree>
    <p:extLst>
      <p:ext uri="{BB962C8B-B14F-4D97-AF65-F5344CB8AC3E}">
        <p14:creationId xmlns:p14="http://schemas.microsoft.com/office/powerpoint/2010/main" val="135219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Motion Magic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5690883" cy="379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 Magic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The Motion magic parameters are configured using a config object: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MotionMagicConfig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we want to apply the configuration to a specific profile slot on the motor controller we will use the following function: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config.configProfileSlot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(id, motor)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motion magic constructor expects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all the Feedforward and PID parameters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to be passed in as a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PIDFeedforwardConfig</a:t>
            </a: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object.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DCF60E-6842-F5B3-4AAB-5D38A87BC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072" y="3092241"/>
            <a:ext cx="4072730" cy="1517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43577B-C669-9C9F-5257-598B04B6DF87}"/>
              </a:ext>
            </a:extLst>
          </p:cNvPr>
          <p:cNvSpPr txBox="1"/>
          <p:nvPr/>
        </p:nvSpPr>
        <p:spPr>
          <a:xfrm>
            <a:off x="0" y="4494462"/>
            <a:ext cx="3308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is only an example; In real code the config objects should be created inside the Constats.java file</a:t>
            </a:r>
          </a:p>
        </p:txBody>
      </p:sp>
    </p:spTree>
    <p:extLst>
      <p:ext uri="{BB962C8B-B14F-4D97-AF65-F5344CB8AC3E}">
        <p14:creationId xmlns:p14="http://schemas.microsoft.com/office/powerpoint/2010/main" val="416871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Move motor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8565155" cy="379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Control Types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To control a motor we need to specify the control type, there are 4 main control types we use: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DutyCycleOut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move the motor by a percentage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PositionDutyCycle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move motor by position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VelocityDutyCycle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move motor by velocity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MotionMagicDutyCycle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 move motor with motion magic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To control the motor first, declare a class variable of the correct type,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configure a selected slot, apply that slot to the control type (in the constructor)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Finaly, move the motor: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EBEC6F-3593-BE60-3B62-F93BDCC3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56" y="3399118"/>
            <a:ext cx="5210855" cy="250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7E7FA0-C39E-80E0-26E7-37C535707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57" y="3942411"/>
            <a:ext cx="3025660" cy="225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26B333-7344-FFF0-24BD-360EBFF93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176" y="4212087"/>
            <a:ext cx="4722401" cy="88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67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451304" y="313093"/>
            <a:ext cx="8041153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19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Create angler subsystem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8565155" cy="398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angler is controlled with </a:t>
            </a:r>
            <a:r>
              <a:rPr lang="en-US" sz="1600" b="1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MotionMagicDutyCycle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.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Functions: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Private: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configMotors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configControl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configSoftLimits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configCurrentLimits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-&gt; 20, 25, 0.1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Public: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stop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moveByPosition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MoveByPercent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resetPosition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-&gt; </a:t>
            </a: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this.master.setPosition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(0);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disableLimits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enableLimits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setControlConfig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MotionMagicConfig</a:t>
            </a:r>
            <a:r>
              <a:rPr lang="en-US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) 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1ABB3E-D2DE-8828-FBF0-5B3A3FE7F073}"/>
              </a:ext>
            </a:extLst>
          </p:cNvPr>
          <p:cNvSpPr txBox="1"/>
          <p:nvPr/>
        </p:nvSpPr>
        <p:spPr>
          <a:xfrm>
            <a:off x="4799403" y="2354626"/>
            <a:ext cx="4619874" cy="106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All angler constants should be saved inside the Constants.java file under a new class called </a:t>
            </a:r>
            <a:r>
              <a:rPr lang="en-US" sz="1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AnglerConstants</a:t>
            </a:r>
            <a:r>
              <a:rPr lang="en-US" sz="1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(see </a:t>
            </a:r>
            <a:r>
              <a:rPr lang="en-US" sz="1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DrivetrainConstants</a:t>
            </a:r>
            <a:r>
              <a:rPr lang="en-US" sz="1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as an example)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101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5" y="181637"/>
            <a:ext cx="5016087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Create angler commands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98198" y="990999"/>
            <a:ext cx="8565155" cy="379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Commands: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ResetAnglerPosition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-&gt; move by percent until the current exceeds a limit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DebugMoveAnglerToPosition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-&gt; use shuffleboard to create a new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MotionMagicConfig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and apply it in the initialize method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All angler constants should be saved inside the Constants.java file under a new class called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AnglerConstants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(see </a:t>
            </a:r>
            <a:r>
              <a:rPr lang="en-US" sz="16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DrivetrainConstants</a:t>
            </a:r>
            <a:r>
              <a:rPr lang="en-US" sz="16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as an example)</a:t>
            </a:r>
            <a:endParaRPr lang="en-US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354" y="4785147"/>
            <a:ext cx="355646" cy="3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1605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1223</Words>
  <Application>Microsoft Office PowerPoint</Application>
  <PresentationFormat>On-screen Show (16:9)</PresentationFormat>
  <Paragraphs>120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Rubik</vt:lpstr>
      <vt:lpstr>Arial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5554</dc:title>
  <dc:creator>Yoav Rozov; Tommy tochilovsky</dc:creator>
  <cp:lastModifiedBy>Yoav Rozov</cp:lastModifiedBy>
  <cp:revision>209</cp:revision>
  <dcterms:modified xsi:type="dcterms:W3CDTF">2026-05-02T16:24:35Z</dcterms:modified>
</cp:coreProperties>
</file>