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88" r:id="rId3"/>
    <p:sldId id="289" r:id="rId4"/>
    <p:sldId id="285" r:id="rId5"/>
    <p:sldId id="287" r:id="rId6"/>
    <p:sldId id="284" r:id="rId7"/>
    <p:sldId id="286" r:id="rId8"/>
    <p:sldId id="257" r:id="rId9"/>
    <p:sldId id="258" r:id="rId10"/>
  </p:sldIdLst>
  <p:sldSz cx="9144000" cy="5143500" type="screen16x9"/>
  <p:notesSz cx="6858000" cy="9144000"/>
  <p:embeddedFontLst>
    <p:embeddedFont>
      <p:font typeface="Rubik" pitchFamily="2" charset="-79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8" roundtripDataSignature="AMtx7mhUVJU3jbxGl11X7yrLJ5REy1ms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40000"/>
    <a:srgbClr val="EFF7FA"/>
    <a:srgbClr val="FBFCFE"/>
    <a:srgbClr val="DEEB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99" d="100"/>
          <a:sy n="199" d="100"/>
        </p:scale>
        <p:origin x="68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38" Type="http://customschemas.google.com/relationships/presentationmetadata" Target="metadata"/><Relationship Id="rId2" Type="http://schemas.openxmlformats.org/officeDocument/2006/relationships/slide" Target="slides/slide1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388620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1588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iw-IL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7" name="Google Shape;10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931377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7" name="Google Shape;10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818564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7" name="Google Shape;10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785426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7" name="Google Shape;10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718328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7" name="Google Shape;10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424848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7" name="Google Shape;10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137131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9605f3d7aa_0_9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0" name="Google Shape;100;g9605f3d7aa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7" name="Google Shape;10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ct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5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ctr" rt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dt" idx="10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sldNum" idx="12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JEC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6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r" rt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dt" idx="10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sldNum" idx="12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_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7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dt" idx="10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sldNum" idx="12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_OBJECTS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8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r" rt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8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r" rt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8"/>
          <p:cNvSpPr txBox="1">
            <a:spLocks noGrp="1"/>
          </p:cNvSpPr>
          <p:nvPr>
            <p:ph type="dt" idx="10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sldNum" idx="12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_OBJECTS_WITH_TEXT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9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r" rt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r" rt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dt" idx="10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sldNum" idx="12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0"/>
          <p:cNvSpPr txBox="1">
            <a:spLocks noGrp="1"/>
          </p:cNvSpPr>
          <p:nvPr>
            <p:ph type="dt" idx="10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sldNum" idx="12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>
            <a:spLocks noGrp="1"/>
          </p:cNvSpPr>
          <p:nvPr>
            <p:ph type="dt" idx="10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sldNum" idx="12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JECT_WITH_CAPTION_TEXT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2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300" cy="1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2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0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81000" algn="r" rt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1" name="Google Shape;61;p22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2" name="Google Shape;62;p22"/>
          <p:cNvSpPr txBox="1">
            <a:spLocks noGrp="1"/>
          </p:cNvSpPr>
          <p:nvPr>
            <p:ph type="dt" idx="10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2"/>
          <p:cNvSpPr txBox="1">
            <a:spLocks noGrp="1"/>
          </p:cNvSpPr>
          <p:nvPr>
            <p:ph type="sldNum" idx="12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_WITH_CAPTION_TEXT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300" cy="1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3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0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r" rt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23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9" name="Google Shape;69;p23"/>
          <p:cNvSpPr txBox="1">
            <a:spLocks noGrp="1"/>
          </p:cNvSpPr>
          <p:nvPr>
            <p:ph type="dt" idx="10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3"/>
          <p:cNvSpPr txBox="1">
            <a:spLocks noGrp="1"/>
          </p:cNvSpPr>
          <p:nvPr>
            <p:ph type="sldNum" idx="12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_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4"/>
          <p:cNvSpPr txBox="1">
            <a:spLocks noGrp="1"/>
          </p:cNvSpPr>
          <p:nvPr>
            <p:ph type="body" idx="1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r" rt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4"/>
          <p:cNvSpPr txBox="1">
            <a:spLocks noGrp="1"/>
          </p:cNvSpPr>
          <p:nvPr>
            <p:ph type="dt" idx="10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sldNum" idx="12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_TITLE_AND_VERTICAL_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5"/>
          <p:cNvSpPr txBox="1">
            <a:spLocks noGrp="1"/>
          </p:cNvSpPr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5"/>
          <p:cNvSpPr txBox="1">
            <a:spLocks noGrp="1"/>
          </p:cNvSpPr>
          <p:nvPr>
            <p:ph type="body" idx="1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r" rt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5"/>
          <p:cNvSpPr txBox="1">
            <a:spLocks noGrp="1"/>
          </p:cNvSpPr>
          <p:nvPr>
            <p:ph type="dt" idx="10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5"/>
          <p:cNvSpPr txBox="1">
            <a:spLocks noGrp="1"/>
          </p:cNvSpPr>
          <p:nvPr>
            <p:ph type="sldNum" idx="12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4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61950" algn="r" rtl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r" rtl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4"/>
          <p:cNvSpPr txBox="1">
            <a:spLocks noGrp="1"/>
          </p:cNvSpPr>
          <p:nvPr>
            <p:ph type="dt" idx="10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4"/>
          <p:cNvSpPr txBox="1">
            <a:spLocks noGrp="1"/>
          </p:cNvSpPr>
          <p:nvPr>
            <p:ph type="sldNum" idx="12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YoavRozov/FRC-Programming-Intro/blob/main/Chapter%203%20-%20ControlTheory/JavaCustomConfigs/LimitSwitch.java" TargetMode="Externa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80128" y="3122082"/>
            <a:ext cx="3853029" cy="11186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9" name="Google Shape;89;p1"/>
          <p:cNvGrpSpPr/>
          <p:nvPr/>
        </p:nvGrpSpPr>
        <p:grpSpPr>
          <a:xfrm>
            <a:off x="0" y="0"/>
            <a:ext cx="9144000" cy="2291961"/>
            <a:chOff x="0" y="1072338"/>
            <a:chExt cx="12192000" cy="2764396"/>
          </a:xfrm>
        </p:grpSpPr>
        <p:sp>
          <p:nvSpPr>
            <p:cNvPr id="90" name="Google Shape;90;p1"/>
            <p:cNvSpPr/>
            <p:nvPr/>
          </p:nvSpPr>
          <p:spPr>
            <a:xfrm>
              <a:off x="0" y="1072338"/>
              <a:ext cx="12192000" cy="2764396"/>
            </a:xfrm>
            <a:prstGeom prst="rect">
              <a:avLst/>
            </a:prstGeom>
            <a:solidFill>
              <a:srgbClr val="01347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1"/>
            <p:cNvSpPr/>
            <p:nvPr/>
          </p:nvSpPr>
          <p:spPr>
            <a:xfrm>
              <a:off x="0" y="3590994"/>
              <a:ext cx="12192000" cy="245122"/>
            </a:xfrm>
            <a:prstGeom prst="rect">
              <a:avLst/>
            </a:prstGeom>
            <a:solidFill>
              <a:schemeClr val="lt1">
                <a:alpha val="72549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1"/>
            <p:cNvSpPr/>
            <p:nvPr/>
          </p:nvSpPr>
          <p:spPr>
            <a:xfrm>
              <a:off x="0" y="3345872"/>
              <a:ext cx="12192000" cy="245122"/>
            </a:xfrm>
            <a:prstGeom prst="rect">
              <a:avLst/>
            </a:prstGeom>
            <a:solidFill>
              <a:schemeClr val="lt1">
                <a:alpha val="42352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"/>
            <p:cNvSpPr/>
            <p:nvPr/>
          </p:nvSpPr>
          <p:spPr>
            <a:xfrm>
              <a:off x="0" y="3100133"/>
              <a:ext cx="12192000" cy="245122"/>
            </a:xfrm>
            <a:prstGeom prst="rect">
              <a:avLst/>
            </a:prstGeom>
            <a:solidFill>
              <a:schemeClr val="lt1">
                <a:alpha val="12549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4" name="Google Shape;94;p1"/>
          <p:cNvSpPr txBox="1"/>
          <p:nvPr/>
        </p:nvSpPr>
        <p:spPr>
          <a:xfrm>
            <a:off x="191624" y="516365"/>
            <a:ext cx="8760752" cy="183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 b="1" dirty="0">
                <a:solidFill>
                  <a:schemeClr val="bg1"/>
                </a:solidFill>
                <a:latin typeface="Rubik" pitchFamily="2" charset="-79"/>
                <a:cs typeface="Rubik" pitchFamily="2" charset="-79"/>
              </a:rPr>
              <a:t>Sensors</a:t>
            </a:r>
            <a:endParaRPr sz="3200" b="1" dirty="0">
              <a:solidFill>
                <a:schemeClr val="bg1"/>
              </a:solidFill>
              <a:latin typeface="Rubik" pitchFamily="2" charset="-79"/>
              <a:cs typeface="Rubik" pitchFamily="2" charset="-79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2728216" y="2200554"/>
            <a:ext cx="3902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6" name="Picture 2" descr="A simple logo representing binary search in blue, gray, and white colors">
            <a:extLst>
              <a:ext uri="{FF2B5EF4-FFF2-40B4-BE49-F238E27FC236}">
                <a16:creationId xmlns:a16="http://schemas.microsoft.com/office/drawing/2014/main" id="{421E5743-C438-7F47-A311-B8C819C177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8928" y="3565721"/>
            <a:ext cx="1575072" cy="1575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Google Shape;95;p1">
            <a:extLst>
              <a:ext uri="{FF2B5EF4-FFF2-40B4-BE49-F238E27FC236}">
                <a16:creationId xmlns:a16="http://schemas.microsoft.com/office/drawing/2014/main" id="{0E9F5F63-A41F-7B94-790C-619D285CA752}"/>
              </a:ext>
            </a:extLst>
          </p:cNvPr>
          <p:cNvSpPr txBox="1"/>
          <p:nvPr/>
        </p:nvSpPr>
        <p:spPr>
          <a:xfrm>
            <a:off x="1638251" y="902719"/>
            <a:ext cx="5536785" cy="765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000" b="1" dirty="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Authors:</a:t>
            </a:r>
          </a:p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Yoav </a:t>
            </a:r>
            <a:r>
              <a:rPr lang="en-US" sz="2000" b="1" i="0" u="none" strike="noStrike" cap="none" dirty="0" err="1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Rozov</a:t>
            </a:r>
            <a:endParaRPr lang="iw-IL" sz="2000" b="1" i="0" u="none" strike="noStrike" cap="none" dirty="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942F3C7-BAB7-60C8-0B48-C93DBB7FB925}"/>
              </a:ext>
            </a:extLst>
          </p:cNvPr>
          <p:cNvGrpSpPr/>
          <p:nvPr/>
        </p:nvGrpSpPr>
        <p:grpSpPr>
          <a:xfrm>
            <a:off x="0" y="162814"/>
            <a:ext cx="9147753" cy="634824"/>
            <a:chOff x="0" y="162814"/>
            <a:chExt cx="9147753" cy="634824"/>
          </a:xfrm>
        </p:grpSpPr>
        <p:sp>
          <p:nvSpPr>
            <p:cNvPr id="10" name="Google Shape;110;p2">
              <a:extLst>
                <a:ext uri="{FF2B5EF4-FFF2-40B4-BE49-F238E27FC236}">
                  <a16:creationId xmlns:a16="http://schemas.microsoft.com/office/drawing/2014/main" id="{0EEFE658-E515-DBB7-3B7E-21E1841174B5}"/>
                </a:ext>
              </a:extLst>
            </p:cNvPr>
            <p:cNvSpPr/>
            <p:nvPr/>
          </p:nvSpPr>
          <p:spPr>
            <a:xfrm>
              <a:off x="0" y="164715"/>
              <a:ext cx="9144000" cy="632923"/>
            </a:xfrm>
            <a:prstGeom prst="rect">
              <a:avLst/>
            </a:prstGeom>
            <a:solidFill>
              <a:srgbClr val="01347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11;p2">
              <a:extLst>
                <a:ext uri="{FF2B5EF4-FFF2-40B4-BE49-F238E27FC236}">
                  <a16:creationId xmlns:a16="http://schemas.microsoft.com/office/drawing/2014/main" id="{44B5280D-7D03-9D32-B359-88B71B5E37E0}"/>
                </a:ext>
              </a:extLst>
            </p:cNvPr>
            <p:cNvSpPr/>
            <p:nvPr/>
          </p:nvSpPr>
          <p:spPr>
            <a:xfrm>
              <a:off x="8863353" y="162815"/>
              <a:ext cx="284400" cy="632923"/>
            </a:xfrm>
            <a:prstGeom prst="rect">
              <a:avLst/>
            </a:prstGeom>
            <a:solidFill>
              <a:schemeClr val="lt1">
                <a:alpha val="72941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12;p2">
              <a:extLst>
                <a:ext uri="{FF2B5EF4-FFF2-40B4-BE49-F238E27FC236}">
                  <a16:creationId xmlns:a16="http://schemas.microsoft.com/office/drawing/2014/main" id="{AB5A3CF1-978B-CB64-9A10-679EAEAC59D5}"/>
                </a:ext>
              </a:extLst>
            </p:cNvPr>
            <p:cNvSpPr/>
            <p:nvPr/>
          </p:nvSpPr>
          <p:spPr>
            <a:xfrm>
              <a:off x="8578953" y="162814"/>
              <a:ext cx="284400" cy="632923"/>
            </a:xfrm>
            <a:prstGeom prst="rect">
              <a:avLst/>
            </a:prstGeom>
            <a:solidFill>
              <a:schemeClr val="lt1">
                <a:alpha val="43137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13;p2">
              <a:extLst>
                <a:ext uri="{FF2B5EF4-FFF2-40B4-BE49-F238E27FC236}">
                  <a16:creationId xmlns:a16="http://schemas.microsoft.com/office/drawing/2014/main" id="{F65010C8-695E-7667-D9D5-6979C5CC8B5B}"/>
                </a:ext>
              </a:extLst>
            </p:cNvPr>
            <p:cNvSpPr/>
            <p:nvPr/>
          </p:nvSpPr>
          <p:spPr>
            <a:xfrm>
              <a:off x="8290800" y="164715"/>
              <a:ext cx="284400" cy="632923"/>
            </a:xfrm>
            <a:prstGeom prst="rect">
              <a:avLst/>
            </a:prstGeom>
            <a:solidFill>
              <a:schemeClr val="lt1">
                <a:alpha val="12941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2"/>
          <p:cNvSpPr txBox="1"/>
          <p:nvPr/>
        </p:nvSpPr>
        <p:spPr>
          <a:xfrm>
            <a:off x="72956" y="181637"/>
            <a:ext cx="4230948" cy="6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dirty="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Encoder</a:t>
            </a:r>
            <a:endParaRPr lang="he-IL" sz="3000" b="1" i="0" u="none" strike="noStrike" cap="none" dirty="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355646" y="975514"/>
            <a:ext cx="5432361" cy="3831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u="sng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Encoder</a:t>
            </a:r>
          </a:p>
          <a:p>
            <a:pPr marL="3429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Sometimes present inside the motor itself</a:t>
            </a:r>
          </a:p>
          <a:p>
            <a:pPr marL="3429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Encoders are connected directly to the motor controller </a:t>
            </a:r>
          </a:p>
          <a:p>
            <a:pPr marL="3429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Usually installed inside encoder hubs</a:t>
            </a:r>
            <a:endParaRPr lang="en-US" sz="1100" dirty="0">
              <a:solidFill>
                <a:schemeClr val="dk1"/>
              </a:solidFill>
              <a:latin typeface="Rubik" pitchFamily="2" charset="-79"/>
              <a:cs typeface="Rubik" pitchFamily="2" charset="-79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A788B4CD-8776-CCF2-A717-3955BD3F19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0734" y="4447527"/>
            <a:ext cx="693266" cy="693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black object with screws&#10;&#10;Description automatically generated">
            <a:extLst>
              <a:ext uri="{FF2B5EF4-FFF2-40B4-BE49-F238E27FC236}">
                <a16:creationId xmlns:a16="http://schemas.microsoft.com/office/drawing/2014/main" id="{99AEBA70-8FB7-BF0D-FAFA-FE720D289F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4057" y="900037"/>
            <a:ext cx="1854084" cy="18540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11E62B7-3806-2B92-2087-EA2076D802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0887" y="3539710"/>
            <a:ext cx="1303678" cy="1303678"/>
          </a:xfrm>
          <a:prstGeom prst="rect">
            <a:avLst/>
          </a:prstGeom>
        </p:spPr>
      </p:pic>
      <p:pic>
        <p:nvPicPr>
          <p:cNvPr id="8" name="Picture 7" descr="A black round device with a metal rod&#10;&#10;Description automatically generated with medium confidence">
            <a:extLst>
              <a:ext uri="{FF2B5EF4-FFF2-40B4-BE49-F238E27FC236}">
                <a16:creationId xmlns:a16="http://schemas.microsoft.com/office/drawing/2014/main" id="{33FAB9C7-4FC1-F977-DC48-32BB9F75AC54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" b="3"/>
          <a:stretch/>
        </p:blipFill>
        <p:spPr>
          <a:xfrm>
            <a:off x="6620090" y="2336643"/>
            <a:ext cx="2168264" cy="2168264"/>
          </a:xfrm>
          <a:custGeom>
            <a:avLst/>
            <a:gdLst/>
            <a:ahLst/>
            <a:cxnLst/>
            <a:rect l="l" t="t" r="r" b="b"/>
            <a:pathLst>
              <a:path w="2683042" h="2683042">
                <a:moveTo>
                  <a:pt x="102278" y="0"/>
                </a:moveTo>
                <a:lnTo>
                  <a:pt x="2580764" y="0"/>
                </a:lnTo>
                <a:cubicBezTo>
                  <a:pt x="2637251" y="0"/>
                  <a:pt x="2683042" y="45791"/>
                  <a:pt x="2683042" y="102278"/>
                </a:cubicBezTo>
                <a:lnTo>
                  <a:pt x="2683042" y="2580764"/>
                </a:lnTo>
                <a:cubicBezTo>
                  <a:pt x="2683042" y="2637251"/>
                  <a:pt x="2637251" y="2683042"/>
                  <a:pt x="2580764" y="2683042"/>
                </a:cubicBezTo>
                <a:lnTo>
                  <a:pt x="102278" y="2683042"/>
                </a:lnTo>
                <a:cubicBezTo>
                  <a:pt x="45791" y="2683042"/>
                  <a:pt x="0" y="2637251"/>
                  <a:pt x="0" y="2580764"/>
                </a:cubicBezTo>
                <a:lnTo>
                  <a:pt x="0" y="102278"/>
                </a:lnTo>
                <a:cubicBezTo>
                  <a:pt x="0" y="45791"/>
                  <a:pt x="45791" y="0"/>
                  <a:pt x="102278" y="0"/>
                </a:cubicBezTo>
                <a:close/>
              </a:path>
            </a:pathLst>
          </a:custGeom>
        </p:spPr>
      </p:pic>
      <p:pic>
        <p:nvPicPr>
          <p:cNvPr id="14" name="Picture 2" descr="A black cylinder with green text&#10;&#10;Description automatically generated">
            <a:extLst>
              <a:ext uri="{FF2B5EF4-FFF2-40B4-BE49-F238E27FC236}">
                <a16:creationId xmlns:a16="http://schemas.microsoft.com/office/drawing/2014/main" id="{4FC7F9E2-C9AC-9EC3-D5EC-B030DC9B98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" b="3"/>
          <a:stretch/>
        </p:blipFill>
        <p:spPr bwMode="auto">
          <a:xfrm>
            <a:off x="5625234" y="1520913"/>
            <a:ext cx="1557852" cy="1557852"/>
          </a:xfrm>
          <a:custGeom>
            <a:avLst/>
            <a:gdLst/>
            <a:ahLst/>
            <a:cxnLst/>
            <a:rect l="l" t="t" r="r" b="b"/>
            <a:pathLst>
              <a:path w="2683042" h="2683042">
                <a:moveTo>
                  <a:pt x="102278" y="0"/>
                </a:moveTo>
                <a:lnTo>
                  <a:pt x="2580764" y="0"/>
                </a:lnTo>
                <a:cubicBezTo>
                  <a:pt x="2637251" y="0"/>
                  <a:pt x="2683042" y="45791"/>
                  <a:pt x="2683042" y="102278"/>
                </a:cubicBezTo>
                <a:lnTo>
                  <a:pt x="2683042" y="2580764"/>
                </a:lnTo>
                <a:cubicBezTo>
                  <a:pt x="2683042" y="2637251"/>
                  <a:pt x="2637251" y="2683042"/>
                  <a:pt x="2580764" y="2683042"/>
                </a:cubicBezTo>
                <a:lnTo>
                  <a:pt x="102278" y="2683042"/>
                </a:lnTo>
                <a:cubicBezTo>
                  <a:pt x="45791" y="2683042"/>
                  <a:pt x="0" y="2637251"/>
                  <a:pt x="0" y="2580764"/>
                </a:cubicBezTo>
                <a:lnTo>
                  <a:pt x="0" y="102278"/>
                </a:lnTo>
                <a:cubicBezTo>
                  <a:pt x="0" y="45791"/>
                  <a:pt x="45791" y="0"/>
                  <a:pt x="102278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07925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2BAC0300-9CCC-0382-AEFB-FBCB625BCD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5085" y="2292041"/>
            <a:ext cx="5093830" cy="2264772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D942F3C7-BAB7-60C8-0B48-C93DBB7FB925}"/>
              </a:ext>
            </a:extLst>
          </p:cNvPr>
          <p:cNvGrpSpPr/>
          <p:nvPr/>
        </p:nvGrpSpPr>
        <p:grpSpPr>
          <a:xfrm>
            <a:off x="0" y="162814"/>
            <a:ext cx="9147753" cy="693267"/>
            <a:chOff x="0" y="162814"/>
            <a:chExt cx="9147753" cy="693267"/>
          </a:xfrm>
        </p:grpSpPr>
        <p:sp>
          <p:nvSpPr>
            <p:cNvPr id="10" name="Google Shape;110;p2">
              <a:extLst>
                <a:ext uri="{FF2B5EF4-FFF2-40B4-BE49-F238E27FC236}">
                  <a16:creationId xmlns:a16="http://schemas.microsoft.com/office/drawing/2014/main" id="{0EEFE658-E515-DBB7-3B7E-21E1841174B5}"/>
                </a:ext>
              </a:extLst>
            </p:cNvPr>
            <p:cNvSpPr/>
            <p:nvPr/>
          </p:nvSpPr>
          <p:spPr>
            <a:xfrm>
              <a:off x="0" y="164715"/>
              <a:ext cx="9144000" cy="632923"/>
            </a:xfrm>
            <a:prstGeom prst="rect">
              <a:avLst/>
            </a:prstGeom>
            <a:solidFill>
              <a:srgbClr val="01347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11;p2">
              <a:extLst>
                <a:ext uri="{FF2B5EF4-FFF2-40B4-BE49-F238E27FC236}">
                  <a16:creationId xmlns:a16="http://schemas.microsoft.com/office/drawing/2014/main" id="{44B5280D-7D03-9D32-B359-88B71B5E37E0}"/>
                </a:ext>
              </a:extLst>
            </p:cNvPr>
            <p:cNvSpPr/>
            <p:nvPr/>
          </p:nvSpPr>
          <p:spPr>
            <a:xfrm>
              <a:off x="8863353" y="162815"/>
              <a:ext cx="284400" cy="693266"/>
            </a:xfrm>
            <a:prstGeom prst="rect">
              <a:avLst/>
            </a:prstGeom>
            <a:solidFill>
              <a:schemeClr val="lt1">
                <a:alpha val="72941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12;p2">
              <a:extLst>
                <a:ext uri="{FF2B5EF4-FFF2-40B4-BE49-F238E27FC236}">
                  <a16:creationId xmlns:a16="http://schemas.microsoft.com/office/drawing/2014/main" id="{AB5A3CF1-978B-CB64-9A10-679EAEAC59D5}"/>
                </a:ext>
              </a:extLst>
            </p:cNvPr>
            <p:cNvSpPr/>
            <p:nvPr/>
          </p:nvSpPr>
          <p:spPr>
            <a:xfrm>
              <a:off x="8578953" y="162814"/>
              <a:ext cx="284400" cy="691366"/>
            </a:xfrm>
            <a:prstGeom prst="rect">
              <a:avLst/>
            </a:prstGeom>
            <a:solidFill>
              <a:schemeClr val="lt1">
                <a:alpha val="43137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13;p2">
              <a:extLst>
                <a:ext uri="{FF2B5EF4-FFF2-40B4-BE49-F238E27FC236}">
                  <a16:creationId xmlns:a16="http://schemas.microsoft.com/office/drawing/2014/main" id="{F65010C8-695E-7667-D9D5-6979C5CC8B5B}"/>
                </a:ext>
              </a:extLst>
            </p:cNvPr>
            <p:cNvSpPr/>
            <p:nvPr/>
          </p:nvSpPr>
          <p:spPr>
            <a:xfrm>
              <a:off x="8290800" y="164715"/>
              <a:ext cx="284400" cy="691366"/>
            </a:xfrm>
            <a:prstGeom prst="rect">
              <a:avLst/>
            </a:prstGeom>
            <a:solidFill>
              <a:schemeClr val="lt1">
                <a:alpha val="12941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2"/>
          <p:cNvSpPr txBox="1"/>
          <p:nvPr/>
        </p:nvSpPr>
        <p:spPr>
          <a:xfrm>
            <a:off x="72956" y="181637"/>
            <a:ext cx="4230948" cy="6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dirty="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Encoder - Code</a:t>
            </a:r>
            <a:endParaRPr lang="he-IL" sz="3000" b="1" i="0" u="none" strike="noStrike" cap="none" dirty="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355646" y="975514"/>
            <a:ext cx="5432361" cy="941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Used inside a subsystem class</a:t>
            </a:r>
          </a:p>
          <a:p>
            <a:pPr marL="3429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Used through the </a:t>
            </a:r>
            <a:r>
              <a:rPr lang="en-US" sz="2400" dirty="0" err="1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talonFX</a:t>
            </a:r>
            <a:r>
              <a:rPr lang="en-US" sz="24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 class</a:t>
            </a:r>
            <a:endParaRPr lang="en-US" sz="1100" dirty="0">
              <a:solidFill>
                <a:schemeClr val="dk1"/>
              </a:solidFill>
              <a:latin typeface="Rubik" pitchFamily="2" charset="-79"/>
              <a:cs typeface="Rubik" pitchFamily="2" charset="-79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A788B4CD-8776-CCF2-A717-3955BD3F19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0734" y="4447527"/>
            <a:ext cx="693266" cy="693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62571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942F3C7-BAB7-60C8-0B48-C93DBB7FB925}"/>
              </a:ext>
            </a:extLst>
          </p:cNvPr>
          <p:cNvGrpSpPr/>
          <p:nvPr/>
        </p:nvGrpSpPr>
        <p:grpSpPr>
          <a:xfrm>
            <a:off x="0" y="162814"/>
            <a:ext cx="9147753" cy="634824"/>
            <a:chOff x="0" y="162814"/>
            <a:chExt cx="9147753" cy="634824"/>
          </a:xfrm>
        </p:grpSpPr>
        <p:sp>
          <p:nvSpPr>
            <p:cNvPr id="10" name="Google Shape;110;p2">
              <a:extLst>
                <a:ext uri="{FF2B5EF4-FFF2-40B4-BE49-F238E27FC236}">
                  <a16:creationId xmlns:a16="http://schemas.microsoft.com/office/drawing/2014/main" id="{0EEFE658-E515-DBB7-3B7E-21E1841174B5}"/>
                </a:ext>
              </a:extLst>
            </p:cNvPr>
            <p:cNvSpPr/>
            <p:nvPr/>
          </p:nvSpPr>
          <p:spPr>
            <a:xfrm>
              <a:off x="0" y="164715"/>
              <a:ext cx="9144000" cy="632923"/>
            </a:xfrm>
            <a:prstGeom prst="rect">
              <a:avLst/>
            </a:prstGeom>
            <a:solidFill>
              <a:srgbClr val="01347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11;p2">
              <a:extLst>
                <a:ext uri="{FF2B5EF4-FFF2-40B4-BE49-F238E27FC236}">
                  <a16:creationId xmlns:a16="http://schemas.microsoft.com/office/drawing/2014/main" id="{44B5280D-7D03-9D32-B359-88B71B5E37E0}"/>
                </a:ext>
              </a:extLst>
            </p:cNvPr>
            <p:cNvSpPr/>
            <p:nvPr/>
          </p:nvSpPr>
          <p:spPr>
            <a:xfrm>
              <a:off x="8863353" y="162815"/>
              <a:ext cx="284400" cy="632923"/>
            </a:xfrm>
            <a:prstGeom prst="rect">
              <a:avLst/>
            </a:prstGeom>
            <a:solidFill>
              <a:schemeClr val="lt1">
                <a:alpha val="72941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12;p2">
              <a:extLst>
                <a:ext uri="{FF2B5EF4-FFF2-40B4-BE49-F238E27FC236}">
                  <a16:creationId xmlns:a16="http://schemas.microsoft.com/office/drawing/2014/main" id="{AB5A3CF1-978B-CB64-9A10-679EAEAC59D5}"/>
                </a:ext>
              </a:extLst>
            </p:cNvPr>
            <p:cNvSpPr/>
            <p:nvPr/>
          </p:nvSpPr>
          <p:spPr>
            <a:xfrm>
              <a:off x="8578953" y="162814"/>
              <a:ext cx="284400" cy="632923"/>
            </a:xfrm>
            <a:prstGeom prst="rect">
              <a:avLst/>
            </a:prstGeom>
            <a:solidFill>
              <a:schemeClr val="lt1">
                <a:alpha val="43137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13;p2">
              <a:extLst>
                <a:ext uri="{FF2B5EF4-FFF2-40B4-BE49-F238E27FC236}">
                  <a16:creationId xmlns:a16="http://schemas.microsoft.com/office/drawing/2014/main" id="{F65010C8-695E-7667-D9D5-6979C5CC8B5B}"/>
                </a:ext>
              </a:extLst>
            </p:cNvPr>
            <p:cNvSpPr/>
            <p:nvPr/>
          </p:nvSpPr>
          <p:spPr>
            <a:xfrm>
              <a:off x="8290800" y="164715"/>
              <a:ext cx="284400" cy="632923"/>
            </a:xfrm>
            <a:prstGeom prst="rect">
              <a:avLst/>
            </a:prstGeom>
            <a:solidFill>
              <a:schemeClr val="lt1">
                <a:alpha val="12941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2"/>
          <p:cNvSpPr txBox="1"/>
          <p:nvPr/>
        </p:nvSpPr>
        <p:spPr>
          <a:xfrm>
            <a:off x="72956" y="181637"/>
            <a:ext cx="4230948" cy="6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dirty="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Limit switch</a:t>
            </a:r>
            <a:endParaRPr lang="he-IL" sz="3000" b="1" i="0" u="none" strike="noStrike" cap="none" dirty="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355646" y="975514"/>
            <a:ext cx="5432361" cy="3831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u="sng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Switch</a:t>
            </a:r>
          </a:p>
          <a:p>
            <a:pPr marL="3429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When the switch is pressed it either closes or opens an electrical circuit</a:t>
            </a:r>
          </a:p>
          <a:p>
            <a:pPr marL="3429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We can detect that</a:t>
            </a:r>
            <a:endParaRPr lang="en-US" sz="1100" dirty="0">
              <a:solidFill>
                <a:schemeClr val="dk1"/>
              </a:solidFill>
              <a:latin typeface="Rubik" pitchFamily="2" charset="-79"/>
              <a:cs typeface="Rubik" pitchFamily="2" charset="-79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A788B4CD-8776-CCF2-A717-3955BD3F19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0734" y="4447527"/>
            <a:ext cx="693266" cy="693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black switch with a red button&#10;&#10;Description automatically generated">
            <a:extLst>
              <a:ext uri="{FF2B5EF4-FFF2-40B4-BE49-F238E27FC236}">
                <a16:creationId xmlns:a16="http://schemas.microsoft.com/office/drawing/2014/main" id="{F0E196C8-E73E-4396-1C1F-D01F6B8024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8497" y="1689964"/>
            <a:ext cx="2256378" cy="2256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212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942F3C7-BAB7-60C8-0B48-C93DBB7FB925}"/>
              </a:ext>
            </a:extLst>
          </p:cNvPr>
          <p:cNvGrpSpPr/>
          <p:nvPr/>
        </p:nvGrpSpPr>
        <p:grpSpPr>
          <a:xfrm>
            <a:off x="0" y="162814"/>
            <a:ext cx="9147753" cy="693267"/>
            <a:chOff x="0" y="162814"/>
            <a:chExt cx="9147753" cy="693267"/>
          </a:xfrm>
        </p:grpSpPr>
        <p:sp>
          <p:nvSpPr>
            <p:cNvPr id="10" name="Google Shape;110;p2">
              <a:extLst>
                <a:ext uri="{FF2B5EF4-FFF2-40B4-BE49-F238E27FC236}">
                  <a16:creationId xmlns:a16="http://schemas.microsoft.com/office/drawing/2014/main" id="{0EEFE658-E515-DBB7-3B7E-21E1841174B5}"/>
                </a:ext>
              </a:extLst>
            </p:cNvPr>
            <p:cNvSpPr/>
            <p:nvPr/>
          </p:nvSpPr>
          <p:spPr>
            <a:xfrm>
              <a:off x="0" y="164715"/>
              <a:ext cx="9144000" cy="632923"/>
            </a:xfrm>
            <a:prstGeom prst="rect">
              <a:avLst/>
            </a:prstGeom>
            <a:solidFill>
              <a:srgbClr val="01347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11;p2">
              <a:extLst>
                <a:ext uri="{FF2B5EF4-FFF2-40B4-BE49-F238E27FC236}">
                  <a16:creationId xmlns:a16="http://schemas.microsoft.com/office/drawing/2014/main" id="{44B5280D-7D03-9D32-B359-88B71B5E37E0}"/>
                </a:ext>
              </a:extLst>
            </p:cNvPr>
            <p:cNvSpPr/>
            <p:nvPr/>
          </p:nvSpPr>
          <p:spPr>
            <a:xfrm>
              <a:off x="8863353" y="162815"/>
              <a:ext cx="284400" cy="693266"/>
            </a:xfrm>
            <a:prstGeom prst="rect">
              <a:avLst/>
            </a:prstGeom>
            <a:solidFill>
              <a:schemeClr val="lt1">
                <a:alpha val="72941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12;p2">
              <a:extLst>
                <a:ext uri="{FF2B5EF4-FFF2-40B4-BE49-F238E27FC236}">
                  <a16:creationId xmlns:a16="http://schemas.microsoft.com/office/drawing/2014/main" id="{AB5A3CF1-978B-CB64-9A10-679EAEAC59D5}"/>
                </a:ext>
              </a:extLst>
            </p:cNvPr>
            <p:cNvSpPr/>
            <p:nvPr/>
          </p:nvSpPr>
          <p:spPr>
            <a:xfrm>
              <a:off x="8578953" y="162814"/>
              <a:ext cx="284400" cy="691366"/>
            </a:xfrm>
            <a:prstGeom prst="rect">
              <a:avLst/>
            </a:prstGeom>
            <a:solidFill>
              <a:schemeClr val="lt1">
                <a:alpha val="43137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13;p2">
              <a:extLst>
                <a:ext uri="{FF2B5EF4-FFF2-40B4-BE49-F238E27FC236}">
                  <a16:creationId xmlns:a16="http://schemas.microsoft.com/office/drawing/2014/main" id="{F65010C8-695E-7667-D9D5-6979C5CC8B5B}"/>
                </a:ext>
              </a:extLst>
            </p:cNvPr>
            <p:cNvSpPr/>
            <p:nvPr/>
          </p:nvSpPr>
          <p:spPr>
            <a:xfrm>
              <a:off x="8290800" y="164715"/>
              <a:ext cx="284400" cy="691366"/>
            </a:xfrm>
            <a:prstGeom prst="rect">
              <a:avLst/>
            </a:prstGeom>
            <a:solidFill>
              <a:schemeClr val="lt1">
                <a:alpha val="12941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2"/>
          <p:cNvSpPr txBox="1"/>
          <p:nvPr/>
        </p:nvSpPr>
        <p:spPr>
          <a:xfrm>
            <a:off x="72956" y="181637"/>
            <a:ext cx="4230948" cy="6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dirty="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Limit switch - Code</a:t>
            </a:r>
            <a:endParaRPr lang="he-IL" sz="3000" b="1" i="0" u="none" strike="noStrike" cap="none" dirty="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355646" y="975514"/>
            <a:ext cx="5432361" cy="685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Used inside a subsystem class</a:t>
            </a:r>
            <a:endParaRPr lang="en-US" sz="1100" dirty="0">
              <a:solidFill>
                <a:schemeClr val="dk1"/>
              </a:solidFill>
              <a:latin typeface="Rubik" pitchFamily="2" charset="-79"/>
              <a:cs typeface="Rubik" pitchFamily="2" charset="-79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A788B4CD-8776-CCF2-A717-3955BD3F19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0734" y="4447527"/>
            <a:ext cx="693266" cy="693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15C68071-4569-5AB1-FCC0-FC29F77474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3490" y="1918561"/>
            <a:ext cx="5780827" cy="2073557"/>
          </a:xfrm>
          <a:prstGeom prst="rect">
            <a:avLst/>
          </a:prstGeom>
        </p:spPr>
      </p:pic>
      <p:cxnSp>
        <p:nvCxnSpPr>
          <p:cNvPr id="8" name="Connector: Curved 7">
            <a:extLst>
              <a:ext uri="{FF2B5EF4-FFF2-40B4-BE49-F238E27FC236}">
                <a16:creationId xmlns:a16="http://schemas.microsoft.com/office/drawing/2014/main" id="{B564C759-81A4-94C9-EC78-DA594615B8BB}"/>
              </a:ext>
            </a:extLst>
          </p:cNvPr>
          <p:cNvCxnSpPr>
            <a:cxnSpLocks/>
          </p:cNvCxnSpPr>
          <p:nvPr/>
        </p:nvCxnSpPr>
        <p:spPr>
          <a:xfrm rot="5400000">
            <a:off x="6504982" y="1851596"/>
            <a:ext cx="911894" cy="880891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F37E4A9-F9C4-1EDC-ADAF-567E7D3F5002}"/>
              </a:ext>
            </a:extLst>
          </p:cNvPr>
          <p:cNvSpPr txBox="1"/>
          <p:nvPr/>
        </p:nvSpPr>
        <p:spPr>
          <a:xfrm>
            <a:off x="6563573" y="1507351"/>
            <a:ext cx="16756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Is normally closed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884DD5-7CF9-32CA-8B79-F65D60A2A312}"/>
              </a:ext>
            </a:extLst>
          </p:cNvPr>
          <p:cNvSpPr txBox="1"/>
          <p:nvPr/>
        </p:nvSpPr>
        <p:spPr>
          <a:xfrm>
            <a:off x="72956" y="4701786"/>
            <a:ext cx="69034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*We will use a custom object “</a:t>
            </a:r>
            <a:r>
              <a:rPr lang="en-US" sz="1200" dirty="0" err="1">
                <a:solidFill>
                  <a:srgbClr val="FF0000"/>
                </a:solidFill>
              </a:rPr>
              <a:t>LimitSwitch</a:t>
            </a:r>
            <a:r>
              <a:rPr lang="en-US" sz="1200" dirty="0">
                <a:solidFill>
                  <a:srgbClr val="FF0000"/>
                </a:solidFill>
              </a:rPr>
              <a:t>” from “LimitSwitch.java” (</a:t>
            </a:r>
            <a:r>
              <a:rPr lang="en-US" sz="1200" dirty="0">
                <a:solidFill>
                  <a:srgbClr val="B4000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 code here</a:t>
            </a:r>
            <a:r>
              <a:rPr lang="en-US" sz="1200" dirty="0">
                <a:solidFill>
                  <a:srgbClr val="FF000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77279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942F3C7-BAB7-60C8-0B48-C93DBB7FB925}"/>
              </a:ext>
            </a:extLst>
          </p:cNvPr>
          <p:cNvGrpSpPr/>
          <p:nvPr/>
        </p:nvGrpSpPr>
        <p:grpSpPr>
          <a:xfrm>
            <a:off x="0" y="162814"/>
            <a:ext cx="9147753" cy="634824"/>
            <a:chOff x="0" y="162814"/>
            <a:chExt cx="9147753" cy="634824"/>
          </a:xfrm>
        </p:grpSpPr>
        <p:sp>
          <p:nvSpPr>
            <p:cNvPr id="10" name="Google Shape;110;p2">
              <a:extLst>
                <a:ext uri="{FF2B5EF4-FFF2-40B4-BE49-F238E27FC236}">
                  <a16:creationId xmlns:a16="http://schemas.microsoft.com/office/drawing/2014/main" id="{0EEFE658-E515-DBB7-3B7E-21E1841174B5}"/>
                </a:ext>
              </a:extLst>
            </p:cNvPr>
            <p:cNvSpPr/>
            <p:nvPr/>
          </p:nvSpPr>
          <p:spPr>
            <a:xfrm>
              <a:off x="0" y="164715"/>
              <a:ext cx="9144000" cy="632923"/>
            </a:xfrm>
            <a:prstGeom prst="rect">
              <a:avLst/>
            </a:prstGeom>
            <a:solidFill>
              <a:srgbClr val="01347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11;p2">
              <a:extLst>
                <a:ext uri="{FF2B5EF4-FFF2-40B4-BE49-F238E27FC236}">
                  <a16:creationId xmlns:a16="http://schemas.microsoft.com/office/drawing/2014/main" id="{44B5280D-7D03-9D32-B359-88B71B5E37E0}"/>
                </a:ext>
              </a:extLst>
            </p:cNvPr>
            <p:cNvSpPr/>
            <p:nvPr/>
          </p:nvSpPr>
          <p:spPr>
            <a:xfrm>
              <a:off x="8863353" y="162815"/>
              <a:ext cx="284400" cy="632923"/>
            </a:xfrm>
            <a:prstGeom prst="rect">
              <a:avLst/>
            </a:prstGeom>
            <a:solidFill>
              <a:schemeClr val="lt1">
                <a:alpha val="72941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12;p2">
              <a:extLst>
                <a:ext uri="{FF2B5EF4-FFF2-40B4-BE49-F238E27FC236}">
                  <a16:creationId xmlns:a16="http://schemas.microsoft.com/office/drawing/2014/main" id="{AB5A3CF1-978B-CB64-9A10-679EAEAC59D5}"/>
                </a:ext>
              </a:extLst>
            </p:cNvPr>
            <p:cNvSpPr/>
            <p:nvPr/>
          </p:nvSpPr>
          <p:spPr>
            <a:xfrm>
              <a:off x="8578953" y="162814"/>
              <a:ext cx="284400" cy="632923"/>
            </a:xfrm>
            <a:prstGeom prst="rect">
              <a:avLst/>
            </a:prstGeom>
            <a:solidFill>
              <a:schemeClr val="lt1">
                <a:alpha val="43137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13;p2">
              <a:extLst>
                <a:ext uri="{FF2B5EF4-FFF2-40B4-BE49-F238E27FC236}">
                  <a16:creationId xmlns:a16="http://schemas.microsoft.com/office/drawing/2014/main" id="{F65010C8-695E-7667-D9D5-6979C5CC8B5B}"/>
                </a:ext>
              </a:extLst>
            </p:cNvPr>
            <p:cNvSpPr/>
            <p:nvPr/>
          </p:nvSpPr>
          <p:spPr>
            <a:xfrm>
              <a:off x="8290800" y="164715"/>
              <a:ext cx="284400" cy="632923"/>
            </a:xfrm>
            <a:prstGeom prst="rect">
              <a:avLst/>
            </a:prstGeom>
            <a:solidFill>
              <a:schemeClr val="lt1">
                <a:alpha val="12941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2"/>
          <p:cNvSpPr txBox="1"/>
          <p:nvPr/>
        </p:nvSpPr>
        <p:spPr>
          <a:xfrm>
            <a:off x="72956" y="181637"/>
            <a:ext cx="4230948" cy="6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dirty="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IR - Infrared sensor</a:t>
            </a:r>
            <a:endParaRPr lang="he-IL" sz="3000" b="1" i="0" u="none" strike="noStrike" cap="none" dirty="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355646" y="975514"/>
            <a:ext cx="5432361" cy="3831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u="sng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IR</a:t>
            </a:r>
          </a:p>
          <a:p>
            <a:pPr marL="3429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Has an emitter and a receiver</a:t>
            </a:r>
          </a:p>
          <a:p>
            <a:pPr marL="3429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The emitter emits light which the receiver can detect</a:t>
            </a:r>
            <a:endParaRPr lang="he-IL" sz="2400" dirty="0">
              <a:solidFill>
                <a:schemeClr val="dk1"/>
              </a:solidFill>
              <a:latin typeface="Rubik" pitchFamily="2" charset="-79"/>
              <a:cs typeface="Rubik" pitchFamily="2" charset="-79"/>
            </a:endParaRPr>
          </a:p>
          <a:p>
            <a:pPr marL="3429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An object blocks the emitter, the light doesn’t get to the receiver</a:t>
            </a:r>
          </a:p>
          <a:p>
            <a:pPr marL="3429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We can detect that</a:t>
            </a:r>
            <a:endParaRPr lang="en-US" sz="1100" dirty="0">
              <a:solidFill>
                <a:schemeClr val="dk1"/>
              </a:solidFill>
              <a:latin typeface="Rubik" pitchFamily="2" charset="-79"/>
              <a:cs typeface="Rubik" pitchFamily="2" charset="-79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A788B4CD-8776-CCF2-A717-3955BD3F19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0734" y="4447527"/>
            <a:ext cx="693266" cy="693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AF10620-E401-0CB7-E860-A8D6B012A3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5924" y="1675602"/>
            <a:ext cx="2358345" cy="2329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6496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B6145600-D4F1-09AD-C821-63459FC0E4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3052" y="1836094"/>
            <a:ext cx="6021704" cy="2298139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D942F3C7-BAB7-60C8-0B48-C93DBB7FB925}"/>
              </a:ext>
            </a:extLst>
          </p:cNvPr>
          <p:cNvGrpSpPr/>
          <p:nvPr/>
        </p:nvGrpSpPr>
        <p:grpSpPr>
          <a:xfrm>
            <a:off x="0" y="162814"/>
            <a:ext cx="9147753" cy="693267"/>
            <a:chOff x="0" y="162814"/>
            <a:chExt cx="9147753" cy="693267"/>
          </a:xfrm>
        </p:grpSpPr>
        <p:sp>
          <p:nvSpPr>
            <p:cNvPr id="10" name="Google Shape;110;p2">
              <a:extLst>
                <a:ext uri="{FF2B5EF4-FFF2-40B4-BE49-F238E27FC236}">
                  <a16:creationId xmlns:a16="http://schemas.microsoft.com/office/drawing/2014/main" id="{0EEFE658-E515-DBB7-3B7E-21E1841174B5}"/>
                </a:ext>
              </a:extLst>
            </p:cNvPr>
            <p:cNvSpPr/>
            <p:nvPr/>
          </p:nvSpPr>
          <p:spPr>
            <a:xfrm>
              <a:off x="0" y="164715"/>
              <a:ext cx="9144000" cy="632923"/>
            </a:xfrm>
            <a:prstGeom prst="rect">
              <a:avLst/>
            </a:prstGeom>
            <a:solidFill>
              <a:srgbClr val="01347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11;p2">
              <a:extLst>
                <a:ext uri="{FF2B5EF4-FFF2-40B4-BE49-F238E27FC236}">
                  <a16:creationId xmlns:a16="http://schemas.microsoft.com/office/drawing/2014/main" id="{44B5280D-7D03-9D32-B359-88B71B5E37E0}"/>
                </a:ext>
              </a:extLst>
            </p:cNvPr>
            <p:cNvSpPr/>
            <p:nvPr/>
          </p:nvSpPr>
          <p:spPr>
            <a:xfrm>
              <a:off x="8863353" y="162815"/>
              <a:ext cx="284400" cy="693266"/>
            </a:xfrm>
            <a:prstGeom prst="rect">
              <a:avLst/>
            </a:prstGeom>
            <a:solidFill>
              <a:schemeClr val="lt1">
                <a:alpha val="72941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12;p2">
              <a:extLst>
                <a:ext uri="{FF2B5EF4-FFF2-40B4-BE49-F238E27FC236}">
                  <a16:creationId xmlns:a16="http://schemas.microsoft.com/office/drawing/2014/main" id="{AB5A3CF1-978B-CB64-9A10-679EAEAC59D5}"/>
                </a:ext>
              </a:extLst>
            </p:cNvPr>
            <p:cNvSpPr/>
            <p:nvPr/>
          </p:nvSpPr>
          <p:spPr>
            <a:xfrm>
              <a:off x="8578953" y="162814"/>
              <a:ext cx="284400" cy="691366"/>
            </a:xfrm>
            <a:prstGeom prst="rect">
              <a:avLst/>
            </a:prstGeom>
            <a:solidFill>
              <a:schemeClr val="lt1">
                <a:alpha val="43137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13;p2">
              <a:extLst>
                <a:ext uri="{FF2B5EF4-FFF2-40B4-BE49-F238E27FC236}">
                  <a16:creationId xmlns:a16="http://schemas.microsoft.com/office/drawing/2014/main" id="{F65010C8-695E-7667-D9D5-6979C5CC8B5B}"/>
                </a:ext>
              </a:extLst>
            </p:cNvPr>
            <p:cNvSpPr/>
            <p:nvPr/>
          </p:nvSpPr>
          <p:spPr>
            <a:xfrm>
              <a:off x="8290800" y="164715"/>
              <a:ext cx="284400" cy="691366"/>
            </a:xfrm>
            <a:prstGeom prst="rect">
              <a:avLst/>
            </a:prstGeom>
            <a:solidFill>
              <a:schemeClr val="lt1">
                <a:alpha val="12941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2"/>
          <p:cNvSpPr txBox="1"/>
          <p:nvPr/>
        </p:nvSpPr>
        <p:spPr>
          <a:xfrm>
            <a:off x="72956" y="181637"/>
            <a:ext cx="4230948" cy="6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dirty="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IR - Code</a:t>
            </a:r>
            <a:endParaRPr lang="he-IL" sz="3000" b="1" i="0" u="none" strike="noStrike" cap="none" dirty="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355646" y="975514"/>
            <a:ext cx="5432361" cy="685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Used inside a subsystem class</a:t>
            </a:r>
            <a:endParaRPr lang="en-US" sz="1100" dirty="0">
              <a:solidFill>
                <a:schemeClr val="dk1"/>
              </a:solidFill>
              <a:latin typeface="Rubik" pitchFamily="2" charset="-79"/>
              <a:cs typeface="Rubik" pitchFamily="2" charset="-79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A788B4CD-8776-CCF2-A717-3955BD3F19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0734" y="4447527"/>
            <a:ext cx="693266" cy="693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Connector: Curved 7">
            <a:extLst>
              <a:ext uri="{FF2B5EF4-FFF2-40B4-BE49-F238E27FC236}">
                <a16:creationId xmlns:a16="http://schemas.microsoft.com/office/drawing/2014/main" id="{B564C759-81A4-94C9-EC78-DA594615B8BB}"/>
              </a:ext>
            </a:extLst>
          </p:cNvPr>
          <p:cNvCxnSpPr>
            <a:cxnSpLocks/>
            <a:stCxn id="18" idx="2"/>
          </p:cNvCxnSpPr>
          <p:nvPr/>
        </p:nvCxnSpPr>
        <p:spPr>
          <a:xfrm rot="5400000">
            <a:off x="6441702" y="1893911"/>
            <a:ext cx="1038456" cy="880891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F37E4A9-F9C4-1EDC-ADAF-567E7D3F5002}"/>
              </a:ext>
            </a:extLst>
          </p:cNvPr>
          <p:cNvSpPr txBox="1"/>
          <p:nvPr/>
        </p:nvSpPr>
        <p:spPr>
          <a:xfrm>
            <a:off x="6563573" y="1507351"/>
            <a:ext cx="16756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Is normally closed</a:t>
            </a:r>
          </a:p>
        </p:txBody>
      </p:sp>
    </p:spTree>
    <p:extLst>
      <p:ext uri="{BB962C8B-B14F-4D97-AF65-F5344CB8AC3E}">
        <p14:creationId xmlns:p14="http://schemas.microsoft.com/office/powerpoint/2010/main" val="10167788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oogle Shape;89;p1">
            <a:extLst>
              <a:ext uri="{FF2B5EF4-FFF2-40B4-BE49-F238E27FC236}">
                <a16:creationId xmlns:a16="http://schemas.microsoft.com/office/drawing/2014/main" id="{A7ADCE01-0604-AC2B-8A5F-F7BB47FC7A4C}"/>
              </a:ext>
            </a:extLst>
          </p:cNvPr>
          <p:cNvGrpSpPr/>
          <p:nvPr/>
        </p:nvGrpSpPr>
        <p:grpSpPr>
          <a:xfrm>
            <a:off x="0" y="0"/>
            <a:ext cx="9144000" cy="2291961"/>
            <a:chOff x="0" y="1072338"/>
            <a:chExt cx="12192000" cy="2764396"/>
          </a:xfrm>
        </p:grpSpPr>
        <p:sp>
          <p:nvSpPr>
            <p:cNvPr id="13" name="Google Shape;90;p1">
              <a:extLst>
                <a:ext uri="{FF2B5EF4-FFF2-40B4-BE49-F238E27FC236}">
                  <a16:creationId xmlns:a16="http://schemas.microsoft.com/office/drawing/2014/main" id="{197DB5CE-FCBF-8893-324E-AD37E651D7AA}"/>
                </a:ext>
              </a:extLst>
            </p:cNvPr>
            <p:cNvSpPr/>
            <p:nvPr/>
          </p:nvSpPr>
          <p:spPr>
            <a:xfrm>
              <a:off x="0" y="1072338"/>
              <a:ext cx="12192000" cy="2764396"/>
            </a:xfrm>
            <a:prstGeom prst="rect">
              <a:avLst/>
            </a:prstGeom>
            <a:solidFill>
              <a:srgbClr val="01347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91;p1">
              <a:extLst>
                <a:ext uri="{FF2B5EF4-FFF2-40B4-BE49-F238E27FC236}">
                  <a16:creationId xmlns:a16="http://schemas.microsoft.com/office/drawing/2014/main" id="{A43190ED-CA31-8839-309D-FB9B63C3C90E}"/>
                </a:ext>
              </a:extLst>
            </p:cNvPr>
            <p:cNvSpPr/>
            <p:nvPr/>
          </p:nvSpPr>
          <p:spPr>
            <a:xfrm>
              <a:off x="0" y="3590994"/>
              <a:ext cx="12192000" cy="245122"/>
            </a:xfrm>
            <a:prstGeom prst="rect">
              <a:avLst/>
            </a:prstGeom>
            <a:solidFill>
              <a:schemeClr val="lt1">
                <a:alpha val="72549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92;p1">
              <a:extLst>
                <a:ext uri="{FF2B5EF4-FFF2-40B4-BE49-F238E27FC236}">
                  <a16:creationId xmlns:a16="http://schemas.microsoft.com/office/drawing/2014/main" id="{BF5406F8-2983-749B-C606-2DF4D2CD9CE3}"/>
                </a:ext>
              </a:extLst>
            </p:cNvPr>
            <p:cNvSpPr/>
            <p:nvPr/>
          </p:nvSpPr>
          <p:spPr>
            <a:xfrm>
              <a:off x="0" y="3345872"/>
              <a:ext cx="12192000" cy="245122"/>
            </a:xfrm>
            <a:prstGeom prst="rect">
              <a:avLst/>
            </a:prstGeom>
            <a:solidFill>
              <a:schemeClr val="lt1">
                <a:alpha val="42352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93;p1">
              <a:extLst>
                <a:ext uri="{FF2B5EF4-FFF2-40B4-BE49-F238E27FC236}">
                  <a16:creationId xmlns:a16="http://schemas.microsoft.com/office/drawing/2014/main" id="{BE61CB2D-6802-2600-98F4-F5F5F4757D89}"/>
                </a:ext>
              </a:extLst>
            </p:cNvPr>
            <p:cNvSpPr/>
            <p:nvPr/>
          </p:nvSpPr>
          <p:spPr>
            <a:xfrm>
              <a:off x="0" y="3100133"/>
              <a:ext cx="12192000" cy="245122"/>
            </a:xfrm>
            <a:prstGeom prst="rect">
              <a:avLst/>
            </a:prstGeom>
            <a:solidFill>
              <a:schemeClr val="lt1">
                <a:alpha val="12549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4" name="Google Shape;104;g9605f3d7aa_0_91"/>
          <p:cNvSpPr txBox="1"/>
          <p:nvPr/>
        </p:nvSpPr>
        <p:spPr>
          <a:xfrm>
            <a:off x="1684697" y="306560"/>
            <a:ext cx="5574368" cy="14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dirty="0">
                <a:solidFill>
                  <a:schemeClr val="bg1"/>
                </a:solidFill>
              </a:rPr>
              <a:t>Practice</a:t>
            </a:r>
            <a:endParaRPr sz="6000" b="1" dirty="0">
              <a:solidFill>
                <a:schemeClr val="bg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D2F3CC3-D080-F54E-C1AF-4F79B37563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2790" y="2387555"/>
            <a:ext cx="2558182" cy="255818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942F3C7-BAB7-60C8-0B48-C93DBB7FB925}"/>
              </a:ext>
            </a:extLst>
          </p:cNvPr>
          <p:cNvGrpSpPr/>
          <p:nvPr/>
        </p:nvGrpSpPr>
        <p:grpSpPr>
          <a:xfrm>
            <a:off x="0" y="162814"/>
            <a:ext cx="9147753" cy="634824"/>
            <a:chOff x="0" y="162814"/>
            <a:chExt cx="9147753" cy="634824"/>
          </a:xfrm>
        </p:grpSpPr>
        <p:sp>
          <p:nvSpPr>
            <p:cNvPr id="10" name="Google Shape;110;p2">
              <a:extLst>
                <a:ext uri="{FF2B5EF4-FFF2-40B4-BE49-F238E27FC236}">
                  <a16:creationId xmlns:a16="http://schemas.microsoft.com/office/drawing/2014/main" id="{0EEFE658-E515-DBB7-3B7E-21E1841174B5}"/>
                </a:ext>
              </a:extLst>
            </p:cNvPr>
            <p:cNvSpPr/>
            <p:nvPr/>
          </p:nvSpPr>
          <p:spPr>
            <a:xfrm>
              <a:off x="0" y="164715"/>
              <a:ext cx="9144000" cy="632923"/>
            </a:xfrm>
            <a:prstGeom prst="rect">
              <a:avLst/>
            </a:prstGeom>
            <a:solidFill>
              <a:srgbClr val="01347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11;p2">
              <a:extLst>
                <a:ext uri="{FF2B5EF4-FFF2-40B4-BE49-F238E27FC236}">
                  <a16:creationId xmlns:a16="http://schemas.microsoft.com/office/drawing/2014/main" id="{44B5280D-7D03-9D32-B359-88B71B5E37E0}"/>
                </a:ext>
              </a:extLst>
            </p:cNvPr>
            <p:cNvSpPr/>
            <p:nvPr/>
          </p:nvSpPr>
          <p:spPr>
            <a:xfrm>
              <a:off x="8863353" y="162815"/>
              <a:ext cx="284400" cy="632923"/>
            </a:xfrm>
            <a:prstGeom prst="rect">
              <a:avLst/>
            </a:prstGeom>
            <a:solidFill>
              <a:schemeClr val="lt1">
                <a:alpha val="72941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12;p2">
              <a:extLst>
                <a:ext uri="{FF2B5EF4-FFF2-40B4-BE49-F238E27FC236}">
                  <a16:creationId xmlns:a16="http://schemas.microsoft.com/office/drawing/2014/main" id="{AB5A3CF1-978B-CB64-9A10-679EAEAC59D5}"/>
                </a:ext>
              </a:extLst>
            </p:cNvPr>
            <p:cNvSpPr/>
            <p:nvPr/>
          </p:nvSpPr>
          <p:spPr>
            <a:xfrm>
              <a:off x="8578953" y="162814"/>
              <a:ext cx="284400" cy="632923"/>
            </a:xfrm>
            <a:prstGeom prst="rect">
              <a:avLst/>
            </a:prstGeom>
            <a:solidFill>
              <a:schemeClr val="lt1">
                <a:alpha val="43137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13;p2">
              <a:extLst>
                <a:ext uri="{FF2B5EF4-FFF2-40B4-BE49-F238E27FC236}">
                  <a16:creationId xmlns:a16="http://schemas.microsoft.com/office/drawing/2014/main" id="{F65010C8-695E-7667-D9D5-6979C5CC8B5B}"/>
                </a:ext>
              </a:extLst>
            </p:cNvPr>
            <p:cNvSpPr/>
            <p:nvPr/>
          </p:nvSpPr>
          <p:spPr>
            <a:xfrm>
              <a:off x="8290800" y="164715"/>
              <a:ext cx="284400" cy="632923"/>
            </a:xfrm>
            <a:prstGeom prst="rect">
              <a:avLst/>
            </a:prstGeom>
            <a:solidFill>
              <a:schemeClr val="lt1">
                <a:alpha val="12941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2"/>
          <p:cNvSpPr txBox="1"/>
          <p:nvPr/>
        </p:nvSpPr>
        <p:spPr>
          <a:xfrm>
            <a:off x="72956" y="181637"/>
            <a:ext cx="3463791" cy="6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dirty="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Intake note</a:t>
            </a:r>
            <a:endParaRPr lang="he-IL" sz="3000" b="1" i="0" u="none" strike="noStrike" cap="none" dirty="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355647" y="975514"/>
            <a:ext cx="4737016" cy="1663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u="sng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Subsystems:</a:t>
            </a:r>
          </a:p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Create 2 subsystems for intake rollers and intake arm</a:t>
            </a:r>
            <a:endParaRPr lang="en-US" sz="1100" dirty="0">
              <a:solidFill>
                <a:schemeClr val="dk1"/>
              </a:solidFill>
              <a:latin typeface="Rubik" pitchFamily="2" charset="-79"/>
              <a:cs typeface="Rubik" pitchFamily="2" charset="-79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A788B4CD-8776-CCF2-A717-3955BD3F19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8772" y="4055565"/>
            <a:ext cx="1085228" cy="1085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Google Shape;118;p2">
            <a:extLst>
              <a:ext uri="{FF2B5EF4-FFF2-40B4-BE49-F238E27FC236}">
                <a16:creationId xmlns:a16="http://schemas.microsoft.com/office/drawing/2014/main" id="{FD616C0E-F8C2-1335-BCE0-1B0354410398}"/>
              </a:ext>
            </a:extLst>
          </p:cNvPr>
          <p:cNvSpPr txBox="1"/>
          <p:nvPr/>
        </p:nvSpPr>
        <p:spPr>
          <a:xfrm>
            <a:off x="355647" y="2641016"/>
            <a:ext cx="4737016" cy="195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u="sng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Commands:</a:t>
            </a:r>
          </a:p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Create commands for closing intake and opening intake</a:t>
            </a:r>
            <a:endParaRPr lang="en-US" sz="1100" dirty="0">
              <a:solidFill>
                <a:schemeClr val="dk1"/>
              </a:solidFill>
              <a:latin typeface="Rubik" pitchFamily="2" charset="-79"/>
              <a:cs typeface="Rubik" pitchFamily="2" charset="-79"/>
            </a:endParaRPr>
          </a:p>
        </p:txBody>
      </p:sp>
      <p:sp>
        <p:nvSpPr>
          <p:cNvPr id="5" name="Google Shape;118;p2">
            <a:extLst>
              <a:ext uri="{FF2B5EF4-FFF2-40B4-BE49-F238E27FC236}">
                <a16:creationId xmlns:a16="http://schemas.microsoft.com/office/drawing/2014/main" id="{A3097272-B4E3-DE6B-5C32-76F0711932F6}"/>
              </a:ext>
            </a:extLst>
          </p:cNvPr>
          <p:cNvSpPr txBox="1"/>
          <p:nvPr/>
        </p:nvSpPr>
        <p:spPr>
          <a:xfrm>
            <a:off x="5092664" y="975514"/>
            <a:ext cx="3893352" cy="2130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u="sng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Sensors:</a:t>
            </a:r>
          </a:p>
          <a:p>
            <a: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chemeClr val="dk1"/>
                </a:solidFill>
                <a:latin typeface="Rubik" pitchFamily="2" charset="-79"/>
                <a:cs typeface="Rubik" pitchFamily="2" charset="-79"/>
              </a:rPr>
              <a:t>Make sure to use encoders, limit switches and IR sensors.</a:t>
            </a:r>
            <a:endParaRPr lang="en-US" sz="1100" dirty="0">
              <a:solidFill>
                <a:schemeClr val="dk1"/>
              </a:solidFill>
              <a:latin typeface="Rubik" pitchFamily="2" charset="-79"/>
              <a:cs typeface="Rubik" pitchFamily="2" charset="-79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ערכת נושא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424</TotalTime>
  <Words>178</Words>
  <Application>Microsoft Office PowerPoint</Application>
  <PresentationFormat>On-screen Show (16:9)</PresentationFormat>
  <Paragraphs>36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Rubik</vt:lpstr>
      <vt:lpstr>Calibri</vt:lpstr>
      <vt:lpstr>Arial</vt:lpstr>
      <vt:lpstr>ערכת נושא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5554</dc:title>
  <dc:creator>Yoav Rozov</dc:creator>
  <cp:lastModifiedBy>Yoav Rozov</cp:lastModifiedBy>
  <cp:revision>64</cp:revision>
  <dcterms:modified xsi:type="dcterms:W3CDTF">2026-05-02T16:25:20Z</dcterms:modified>
</cp:coreProperties>
</file>